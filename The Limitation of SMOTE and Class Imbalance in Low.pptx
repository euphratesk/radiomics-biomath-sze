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9B4138-64E4-456C-BC64-5524E4FB82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EF36CC-B03C-4E53-8E73-5437EFDBD1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FE6487-FDB2-4CAD-8686-A724DD73D1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DEEA39-EC1A-48CB-BF3E-6D9DD3438A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7701AF-F9CE-4D74-8ECE-04ACB3F0CE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907A97-12AA-4253-BA20-8C384FF53F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B74C32-FB89-44FD-B66A-2B65E27238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697B03-E37B-43B5-AF11-62661FEAA4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46FDB1-83E0-4E2A-967D-1E637ECA6E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1E29B1-8822-4D25-A342-74DAD63744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9FB465-F692-466E-A5AC-DE21A348534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357264-334D-4531-9E93-5A6520CD63F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algn="ctr"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 Light"/>
              </a:rPr>
              <a:t>The Limitation of SMOTE and Class Imbalance in Low-Sample Radiomics: A Cautionary Case Study in Renal Mass Differentiation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Sub-line: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From Initial Model Expectations to Critical Methodological Realities 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Authors: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Kenan Fırat, Albert Güveniş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Methodological Critique &amp; Empirical Proof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Core Discovery: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Demonstrating that tabular oversampling (SMOTE) creates deceptive performance metrics and fails to stabilize machine learning models in low-sample, high-dimensional radiomics tasks. 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Methodological Critique &amp; Empirical Proof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Methodological Shift: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Moving away from treating SMOTE as a routine shortcut for class imbalance, exposing its failure under rigorous validation.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Methodological Innovation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Dual-State Baseline Comparison: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Directly comparing "With-SMOTE" vs. "Without-SMOTE"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pipelines against a non-resampled baseline under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identical nested cross-validation conditions.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Methodological Innovation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Exposing the "Lucky Fold" Illusion: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Showing how oversampling produces deceptive, highly publishable single-fold metric spikes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(peak AUC up to 0.94; N=69, minority N=11)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while multi-fold average performance collapses to random chance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(AUC ~0.49-0.51)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Methodological Innovation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Geometric &amp; Biological Failure: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Demonstrating mathematically that linear interpolation cannot sample meaningful vectors in sparse high-dimensional space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(D &gt; 1000 features vs. N &lt; 15 minority cases), generating unphysical statistical noise.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Methodological Innovation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Advocating Image-Level Augmentation: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Calling for a paradigm shift to perform data augmentation on source volumes (3D rotations, ROI perturbations) to preserve true physical X-ray interactions.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Positioning Relative to Prior Work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From Theoretical Math to Radiomics Reality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Translating Theory: 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Bridging the gap between general computer science theory (which warns against high-dimensional SMOTE) 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 algn="ctr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and 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published radiomics literature that routinely </a:t>
            </a:r>
            <a:r>
              <a:rPr b="0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ignores these warnings.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Positioning Relative to Prior Work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From Theoretical Math to Radiomics Reality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Controlled Empirical Design: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Executing a side-by-side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empirical test on the same clinical task using a </a:t>
            </a:r>
            <a:r>
              <a:rPr b="0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rigorous </a:t>
            </a:r>
            <a:r>
              <a:rPr b="0" lang="en-US" sz="2800" spc="-1" strike="noStrike">
                <a:solidFill>
                  <a:srgbClr val="000000"/>
                </a:solidFill>
                <a:highlight>
                  <a:srgbClr val="ffff00"/>
                </a:highlight>
                <a:latin typeface="Calibri"/>
              </a:rPr>
              <a:t>nested cross-validation pipeline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Positioning Relative to Prior Work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From Theoretical Math to Radiomics Reality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Exposing Publication Bias: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Demonstrating how single "lucky" splits produce inflated headline results (AUC 0.81 to 0.94) while masking underlying multi-fold instability.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Positioning Relative to Prior Work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From Theoretical Math to Radiomics Reality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Domain-Specific Alternative: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Linking SMOTE's failure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directly to the loss of physical X-ray interaction data and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establishing the necessity of 3D image-level spatial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perturbations.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Clinical Impact in Cancer Radiomics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Addressing Safety &amp; Diagnostic Reliability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Artificial Illusion of Accuracy: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Preventing false optimism in diagnostic tools caused by synthetic noise clusters in rare pathology datasets.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Clinical Impact in Cancer Radiomics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Addressing Safety &amp; Diagnostic Reliability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Patient Safety Risks: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Decision boundaries built on unphysical feature combinations risk misclassifying benign lesions (like AML) as malignant (RCC), leading to unnecessary nephrectomies.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Clinical Impact in Cancer Radiomics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Addressing Safety &amp; Diagnostic Reliability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Preserving Physical Reality: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CT and MRI scans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capture physical tissue density and photon attenuation;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tabular SMOTE creates "synthetic patients" with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biologically impossible feature profiles.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Clinical Impact in Cancer Radiomics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Addressing Safety &amp; Diagnostic Reliability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Overcoming the Reproducibility Crisis: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Eliminating volatile tabular shortcuts to ensure models generalize safely to external real-world clinical data.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The Path Forward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5926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Actionable Recommendations for Future Studies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Reject Abstract Shortcuts: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Move away from tabular vector-space interpolation in data-scarce medical imaging.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  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Prioritize Image-Level Augmentation: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Implement 3D spatial rotations, Hounsfield Unit intensity perturbations, and region-of-interest boundary shifts directly on raw images.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  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Grounded in Anatomy: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Ensure all extracted features reflect genuine biological variability and real-world scanner physics.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1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LibreOffice/7.3.7.2$Linux_X86_64 LibreOffice_project/30$Build-2</Application>
  <AppVersion>15.0000</AppVersion>
  <Words>4183</Words>
  <Paragraphs>80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2026-09-03T17:01:15Z</dcterms:created>
  <dc:creator>euphrates</dc:creator>
  <dc:description/>
  <dc:language>en-US</dc:language>
  <cp:lastModifiedBy/>
  <dcterms:modified xsi:type="dcterms:W3CDTF">2026-09-04T09:33:34Z</dcterms:modified>
  <cp:revision>8</cp:revision>
  <dc:subject/>
  <dc:title>The Limitation of SMOTE and Class Imbalance in Low-Sample Radiomics: A Cautionary Case Study in Renal Mass Differentiation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  <property fmtid="{D5CDD505-2E9C-101B-9397-08002B2CF9AE}" pid="3" name="PresentationFormat">
    <vt:lpwstr>Widescreen</vt:lpwstr>
  </property>
  <property fmtid="{D5CDD505-2E9C-101B-9397-08002B2CF9AE}" pid="4" name="Slides">
    <vt:i4>14</vt:i4>
  </property>
</Properties>
</file>