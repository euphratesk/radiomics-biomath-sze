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9" r:id="rId3"/>
    <p:sldId id="257" r:id="rId4"/>
    <p:sldId id="263" r:id="rId5"/>
    <p:sldId id="260" r:id="rId6"/>
    <p:sldId id="264" r:id="rId7"/>
  </p:sldIdLst>
  <p:sldSz cx="12192000" cy="6858000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2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41" d="100"/>
          <a:sy n="41" d="100"/>
        </p:scale>
        <p:origin x="1794" y="5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/>
          </p:nvPr>
        </p:nvSpPr>
        <p:spPr>
          <a:xfrm>
            <a:off x="838200" y="365125"/>
            <a:ext cx="10515600" cy="58118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E934FF-F4E1-47C5-9CA5-30A81DDE2BE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561BA9-CDCF-4958-B8AB-66F3BF063E13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l"/>
            <a:endParaRPr lang="en-US" altLang="en-US" sz="1800"/>
          </a:p>
          <a:p>
            <a:pPr algn="l"/>
            <a:r>
              <a:rPr lang="en-US" altLang="en-US" sz="1800"/>
              <a:t>Authors:          Kenan Fırat &amp; Albert Güveniş</a:t>
            </a:r>
          </a:p>
          <a:p>
            <a:pPr algn="l"/>
            <a:r>
              <a:rPr lang="en-US" altLang="en-US" sz="1800"/>
              <a:t>Domain:          Medical Image Computing &amp; Cancer Radiomics</a:t>
            </a:r>
          </a:p>
          <a:p>
            <a:pPr algn="l"/>
            <a:r>
              <a:rPr lang="en-US" altLang="en-US" sz="1800"/>
              <a:t>IEEE Citation:  10.1109/USBEREIT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25" y="3814762"/>
            <a:ext cx="11029950" cy="381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336" y="4100512"/>
            <a:ext cx="1809750" cy="167759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78422" y="1889521"/>
            <a:ext cx="1809750" cy="167759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3507" y="4100512"/>
            <a:ext cx="1809750" cy="1504354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28593" y="2062757"/>
            <a:ext cx="1809750" cy="1504354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3678" y="4100512"/>
            <a:ext cx="1809750" cy="1504354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78764" y="1889521"/>
            <a:ext cx="1809750" cy="167759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8114" y="4262437"/>
            <a:ext cx="1560195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38BDF8"/>
                </a:solidFill>
                <a:latin typeface="Poppins"/>
              </a:rPr>
              <a:t>1895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5261" y="4576762"/>
            <a:ext cx="1485900" cy="10394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365"/>
              </a:lnSpc>
            </a:pPr>
            <a:r>
              <a:rPr sz="975" b="1" i="0" u="none">
                <a:solidFill>
                  <a:srgbClr val="94A3B8"/>
                </a:solidFill>
                <a:latin typeface="Inter"/>
              </a:rPr>
              <a:t>X-Ray Discovered</a:t>
            </a:r>
            <a:r>
              <a:t>
</a:t>
            </a:r>
            <a:r>
              <a:rPr sz="975" b="0" i="0" u="none">
                <a:solidFill>
                  <a:srgbClr val="94A3B8"/>
                </a:solidFill>
                <a:latin typeface="Inter"/>
              </a:rPr>
              <a:t> Wilhelm Röntgen discovers X-rays, enabling non-invasive qualitative anatomical visualization.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03199" y="2051446"/>
            <a:ext cx="1560195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38BDF8"/>
                </a:solidFill>
                <a:latin typeface="Poppins"/>
              </a:rPr>
              <a:t>1971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347" y="2365771"/>
            <a:ext cx="1485900" cy="10394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365"/>
              </a:lnSpc>
            </a:pPr>
            <a:r>
              <a:rPr sz="975" b="1" i="0" u="none">
                <a:solidFill>
                  <a:srgbClr val="94A3B8"/>
                </a:solidFill>
                <a:latin typeface="Inter"/>
              </a:rPr>
              <a:t>CT Scanner</a:t>
            </a:r>
            <a:r>
              <a:t>
</a:t>
            </a:r>
            <a:r>
              <a:rPr sz="975" b="0" i="0" u="none">
                <a:solidFill>
                  <a:srgbClr val="94A3B8"/>
                </a:solidFill>
                <a:latin typeface="Inter"/>
              </a:rPr>
              <a:t> Godfrey Hounsfield invents Computed Tomography, introducing 3D density pixel matrices (HU).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78285" y="4262437"/>
            <a:ext cx="1560195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38BDF8"/>
                </a:solidFill>
                <a:latin typeface="Poppins"/>
              </a:rPr>
              <a:t>1973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5432" y="4576762"/>
            <a:ext cx="1485900" cy="8661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365"/>
              </a:lnSpc>
            </a:pPr>
            <a:r>
              <a:rPr sz="975" b="1" i="0" u="none">
                <a:solidFill>
                  <a:srgbClr val="94A3B8"/>
                </a:solidFill>
                <a:latin typeface="Inter"/>
              </a:rPr>
              <a:t>Texture Matrix</a:t>
            </a:r>
            <a:r>
              <a:t>
</a:t>
            </a:r>
            <a:r>
              <a:rPr sz="975" b="0" i="0" u="none">
                <a:solidFill>
                  <a:srgbClr val="94A3B8"/>
                </a:solidFill>
                <a:latin typeface="Inter"/>
              </a:rPr>
              <a:t> Haralick proposes GLCM texture features, founding quantitative spatial image analysis.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3370" y="2224682"/>
            <a:ext cx="1560195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38BDF8"/>
                </a:solidFill>
                <a:latin typeface="Poppins"/>
              </a:rPr>
              <a:t>2002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0518" y="2539007"/>
            <a:ext cx="1485900" cy="8661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365"/>
              </a:lnSpc>
            </a:pPr>
            <a:r>
              <a:rPr sz="975" b="1" i="0" u="none">
                <a:solidFill>
                  <a:srgbClr val="94A3B8"/>
                </a:solidFill>
                <a:latin typeface="Inter"/>
              </a:rPr>
              <a:t>SMOTE Algorithm</a:t>
            </a:r>
            <a:r>
              <a:t>
</a:t>
            </a:r>
            <a:r>
              <a:rPr sz="975" b="0" i="0" u="none">
                <a:solidFill>
                  <a:srgbClr val="94A3B8"/>
                </a:solidFill>
                <a:latin typeface="Inter"/>
              </a:rPr>
              <a:t> Chawla et al. publish SMOTE to address class imbalance in machine learning datasets.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456" y="4262437"/>
            <a:ext cx="1560195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38BDF8"/>
                </a:solidFill>
                <a:latin typeface="Poppins"/>
              </a:rPr>
              <a:t>2012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5603" y="4576762"/>
            <a:ext cx="1485900" cy="8661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365"/>
              </a:lnSpc>
            </a:pPr>
            <a:r>
              <a:rPr sz="975" b="1" i="0" u="none">
                <a:solidFill>
                  <a:srgbClr val="94A3B8"/>
                </a:solidFill>
                <a:latin typeface="Inter"/>
              </a:rPr>
              <a:t>Radiomics Termed</a:t>
            </a:r>
            <a:r>
              <a:t>
</a:t>
            </a:r>
            <a:r>
              <a:rPr sz="975" b="0" i="0" u="none">
                <a:solidFill>
                  <a:srgbClr val="94A3B8"/>
                </a:solidFill>
                <a:latin typeface="Inter"/>
              </a:rPr>
              <a:t> Lambin et al. coin "Radiomics" for high-throughput extraction of tumor phenotypes.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03541" y="2051446"/>
            <a:ext cx="1560195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38BDF8"/>
                </a:solidFill>
                <a:latin typeface="Poppins"/>
              </a:rPr>
              <a:t>2015+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0689" y="2365771"/>
            <a:ext cx="1485900" cy="10394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365"/>
              </a:lnSpc>
            </a:pPr>
            <a:r>
              <a:rPr sz="975" b="1" i="0" u="none">
                <a:solidFill>
                  <a:srgbClr val="94A3B8"/>
                </a:solidFill>
                <a:latin typeface="Inter"/>
              </a:rPr>
              <a:t>Deep Radiomics</a:t>
            </a:r>
            <a:r>
              <a:t>
</a:t>
            </a:r>
            <a:r>
              <a:rPr sz="975" b="0" i="0" u="none">
                <a:solidFill>
                  <a:srgbClr val="94A3B8"/>
                </a:solidFill>
                <a:latin typeface="Inter"/>
              </a:rPr>
              <a:t> Integration of Deep Learning &amp; ML classifiers into automated quantitative diagnostic pipelines.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1025" y="485775"/>
            <a:ext cx="11581447" cy="523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 u="none">
                <a:solidFill>
                  <a:srgbClr val="F8FAFC"/>
                </a:solidFill>
                <a:latin typeface="Poppins SemiBold"/>
              </a:rPr>
              <a:t>Historical Imaging Timeline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22486" y="3748087"/>
            <a:ext cx="171450" cy="17145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381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3197572" y="3748087"/>
            <a:ext cx="171450" cy="17145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381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072657" y="3748087"/>
            <a:ext cx="171450" cy="17145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381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947743" y="3748087"/>
            <a:ext cx="171450" cy="17145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381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8822828" y="3748087"/>
            <a:ext cx="171450" cy="17145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381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10697914" y="3748087"/>
            <a:ext cx="171450" cy="17145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381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" altLang="en-US"/>
              <a:t>X Ray</a:t>
            </a:r>
          </a:p>
        </p:txBody>
      </p:sp>
      <p:pic>
        <p:nvPicPr>
          <p:cNvPr id="5" name="Picture Placeholder 4" descr="X ray photo"/>
          <p:cNvPicPr>
            <a:picLocks noGrp="1" noChangeAspect="1"/>
          </p:cNvPicPr>
          <p:nvPr>
            <p:ph type="pic" idx="1"/>
          </p:nvPr>
        </p:nvPicPr>
        <p:blipFill>
          <a:blip r:embed="rId2"/>
          <a:stretch>
            <a:fillRect/>
          </a:stretch>
        </p:blipFill>
        <p:spPr>
          <a:xfrm>
            <a:off x="7544435" y="1080770"/>
            <a:ext cx="3857625" cy="4695825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altLang="en-US"/>
          </a:p>
          <a:p>
            <a:r>
              <a:rPr lang="" altLang="en-US"/>
              <a:t>X-ray is defined as a form of high energy electromagnetic wave </a:t>
            </a:r>
          </a:p>
          <a:p>
            <a:pPr marL="285750" indent="-285750">
              <a:buFont typeface="Arial" panose="02080604020202020204" pitchFamily="34" charset="0"/>
              <a:buChar char="•"/>
            </a:pPr>
            <a:r>
              <a:rPr lang="" altLang="en-US"/>
              <a:t>used in imaging to create </a:t>
            </a:r>
            <a:r>
              <a:rPr lang="" altLang="en-US" b="1"/>
              <a:t>pictures of internal bodily structures</a:t>
            </a:r>
            <a:endParaRPr lang="" altLang="en-US"/>
          </a:p>
          <a:p>
            <a:pPr marL="285750" indent="-285750">
              <a:buFont typeface="Arial" panose="02080604020202020204" pitchFamily="34" charset="0"/>
              <a:buChar char="•"/>
            </a:pPr>
            <a:r>
              <a:rPr lang="" altLang="en-US"/>
              <a:t>able to penetrate the body </a:t>
            </a:r>
          </a:p>
          <a:p>
            <a:pPr>
              <a:buFont typeface="Arial" panose="02080604020202020204" pitchFamily="34" charset="0"/>
            </a:pPr>
            <a:r>
              <a:rPr lang="" altLang="en-US"/>
              <a:t>             </a:t>
            </a:r>
            <a:r>
              <a:rPr lang="" altLang="en-US" sz="2400"/>
              <a:t> &amp;</a:t>
            </a:r>
            <a:endParaRPr lang="" altLang="en-US"/>
          </a:p>
          <a:p>
            <a:pPr marL="285750" indent="-285750">
              <a:buFont typeface="Arial" panose="02080604020202020204" pitchFamily="34" charset="0"/>
              <a:buChar char="•"/>
            </a:pPr>
            <a:r>
              <a:rPr lang="" altLang="en-US"/>
              <a:t>absorbed by different tissues to produce shadow-like images on a detector.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Placeholder 5" descr="Xray_CT technique_fig12_CTscanner_600x0"/>
          <p:cNvPicPr>
            <a:picLocks noGrp="1" noChangeAspect="1"/>
          </p:cNvPicPr>
          <p:nvPr>
            <p:ph type="pic" idx="1"/>
          </p:nvPr>
        </p:nvPicPr>
        <p:blipFill>
          <a:blip r:embed="rId2"/>
          <a:stretch>
            <a:fillRect/>
          </a:stretch>
        </p:blipFill>
        <p:spPr>
          <a:xfrm>
            <a:off x="5699760" y="987425"/>
            <a:ext cx="5139055" cy="4873625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altLang="en-US"/>
              <a:t>CT Scan : Work on X-Ray photons which allow taking photos of organs and living biostructures</a:t>
            </a:r>
          </a:p>
          <a:p>
            <a:r>
              <a:rPr lang="en-US" altLang="en-US"/>
              <a:t>CT is a medical imaging modality that employs </a:t>
            </a:r>
            <a:r>
              <a:rPr lang="en-US" altLang="en-US" b="1"/>
              <a:t>x-rays</a:t>
            </a:r>
            <a:r>
              <a:rPr lang="en-US" altLang="en-US"/>
              <a:t> and </a:t>
            </a:r>
            <a:r>
              <a:rPr lang="en-US" altLang="en-US" b="1"/>
              <a:t>computer processing</a:t>
            </a:r>
            <a:r>
              <a:rPr lang="en-US" altLang="en-US"/>
              <a:t> to generate detailed </a:t>
            </a:r>
            <a:r>
              <a:rPr lang="en-US" altLang="en-US" b="1"/>
              <a:t>internal body images</a:t>
            </a:r>
            <a:r>
              <a:rPr lang="en-US" altLang="en-US"/>
              <a:t>. </a:t>
            </a:r>
          </a:p>
          <a:p>
            <a:r>
              <a:rPr lang="" altLang="en-US"/>
              <a:t>(</a:t>
            </a:r>
            <a:r>
              <a:rPr lang="en-US" altLang="en-US"/>
              <a:t>Yousif A. Al-Naser</a:t>
            </a:r>
            <a:r>
              <a:rPr lang="" altLang="en-US"/>
              <a:t>, 2026)</a:t>
            </a:r>
            <a:endParaRPr lang="en-US" altLang="en-US"/>
          </a:p>
          <a:p>
            <a:endParaRPr lang="en-US" altLang="en-US"/>
          </a:p>
          <a:p>
            <a:r>
              <a:rPr lang="en-US" altLang="en-US"/>
              <a:t>Data mining : Radiomics inspects CT scan pixel values and construct biologically correlated information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" altLang="en-US"/>
              <a:t>Radiomics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" dirty="0"/>
              <a:t>Techniques of extracting </a:t>
            </a:r>
            <a:r>
              <a:rPr lang="" b="1" dirty="0"/>
              <a:t>useful quantitative informatio</a:t>
            </a:r>
            <a:r>
              <a:rPr lang="" dirty="0"/>
              <a:t>n from medical images</a:t>
            </a:r>
            <a:r>
              <a:rPr lang="en-US" dirty="0"/>
              <a:t>. </a:t>
            </a:r>
            <a:r>
              <a:rPr lang="" altLang="en-US" sz="1800" i="1" dirty="0"/>
              <a:t>(Shafiq-ul-Hassan et al 2017)</a:t>
            </a:r>
            <a:r>
              <a:rPr lang="en-US" dirty="0"/>
              <a:t> </a:t>
            </a:r>
          </a:p>
          <a:p>
            <a:r>
              <a:rPr lang="" altLang="en-US" dirty="0"/>
              <a:t>Extraction </a:t>
            </a:r>
            <a:r>
              <a:rPr lang="" altLang="en-US" b="1" dirty="0"/>
              <a:t>clinically relevant information</a:t>
            </a:r>
            <a:r>
              <a:rPr lang="" altLang="en-US" dirty="0"/>
              <a:t> from radiologic images </a:t>
            </a:r>
            <a:r>
              <a:rPr lang="" altLang="en-US" dirty="0"/>
              <a:t> </a:t>
            </a:r>
            <a:r>
              <a:rPr lang="" altLang="en-US" dirty="0" smtClean="0"/>
              <a:t>    </a:t>
            </a:r>
            <a:r>
              <a:rPr lang="" altLang="en-US" sz="1800" i="1" dirty="0" smtClean="0"/>
              <a:t>(</a:t>
            </a:r>
            <a:r>
              <a:rPr lang="" altLang="en-US" sz="1800" i="1" dirty="0"/>
              <a:t>MR Tomaszewski, RJ Gillies - Radiology, 2021)</a:t>
            </a:r>
            <a:endParaRPr lang="en-US" dirty="0"/>
          </a:p>
          <a:p>
            <a:r>
              <a:rPr lang="en-US" dirty="0" smtClean="0"/>
              <a:t>Capturing </a:t>
            </a:r>
            <a:r>
              <a:rPr lang="en-US" b="1" i="1" dirty="0" smtClean="0"/>
              <a:t>tissue </a:t>
            </a:r>
            <a:r>
              <a:rPr lang="en-US" b="1" i="1" dirty="0"/>
              <a:t>and lesion characteristics </a:t>
            </a:r>
            <a:r>
              <a:rPr lang="en-US" i="1" dirty="0"/>
              <a:t>such as heterogeneity and shape and may, alone or in combination with demographic, histologic, genomic, or proteomic data</a:t>
            </a:r>
            <a:r>
              <a:rPr lang="en-US" dirty="0"/>
              <a:t>, be used for </a:t>
            </a:r>
            <a:r>
              <a:rPr lang="en-US" b="1" dirty="0"/>
              <a:t>clinical problem solving</a:t>
            </a:r>
            <a:r>
              <a:rPr lang="en-US" dirty="0"/>
              <a:t>. </a:t>
            </a:r>
          </a:p>
          <a:p>
            <a:pPr marL="0" indent="0">
              <a:buNone/>
            </a:pPr>
            <a:r>
              <a:rPr lang="" altLang="en-US" sz="2000" i="1" dirty="0"/>
              <a:t>(Marious E Mayerhoufer et al 2020)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" altLang="en-US"/>
              <a:t>Radiomics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" altLang="en-US"/>
              <a:t>Matematically - Construct comlex matrices</a:t>
            </a:r>
          </a:p>
          <a:p>
            <a:r>
              <a:rPr lang="" altLang="en-US"/>
              <a:t>Data Science - Data mining from raw data souce(MEdical Images)</a:t>
            </a:r>
          </a:p>
          <a:p>
            <a:r>
              <a:rPr lang="" altLang="en-US"/>
              <a:t>Cilinically - Construct quantized structure align with biological structure</a:t>
            </a:r>
          </a:p>
          <a:p>
            <a:endParaRPr lang="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368</TotalTime>
  <Words>337</Words>
  <Application>Microsoft Office PowerPoint</Application>
  <PresentationFormat>Geniş ekran</PresentationFormat>
  <Paragraphs>38</Paragraphs>
  <Slides>6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6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6</vt:i4>
      </vt:variant>
    </vt:vector>
  </HeadingPairs>
  <TitlesOfParts>
    <vt:vector size="13" baseType="lpstr">
      <vt:lpstr>Arial</vt:lpstr>
      <vt:lpstr>Calibri</vt:lpstr>
      <vt:lpstr>Calibri Light</vt:lpstr>
      <vt:lpstr>Inter</vt:lpstr>
      <vt:lpstr>Poppins</vt:lpstr>
      <vt:lpstr>Poppins SemiBold</vt:lpstr>
      <vt:lpstr>Office Theme</vt:lpstr>
      <vt:lpstr>PowerPoint Sunusu</vt:lpstr>
      <vt:lpstr>PowerPoint Sunusu</vt:lpstr>
      <vt:lpstr>X Ray</vt:lpstr>
      <vt:lpstr>PowerPoint Sunusu</vt:lpstr>
      <vt:lpstr>Radiomics</vt:lpstr>
      <vt:lpstr>Radiomics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WPP Presentation</dc:title>
  <dc:creator>euphrates</dc:creator>
  <cp:lastModifiedBy>Reception</cp:lastModifiedBy>
  <cp:revision>11</cp:revision>
  <dcterms:created xsi:type="dcterms:W3CDTF">2026-09-06T18:54:01Z</dcterms:created>
  <dcterms:modified xsi:type="dcterms:W3CDTF">2026-09-07T04:00:23Z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1033-10.1.0.6757</vt:lpwstr>
  </property>
</Properties>
</file>