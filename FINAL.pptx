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63" r:id="rId6"/>
    <p:sldId id="260" r:id="rId7"/>
    <p:sldId id="264" r:id="rId8"/>
  </p:sldIdLst>
  <p:sldSz cx="12192000" cy="6858000"/>
  <p:notesSz cx="7103745" cy="1023429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2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p>
            <a:pPr algn="l"/>
            <a:endParaRPr lang="en-US" altLang="en-US" sz="1800"/>
          </a:p>
          <a:p>
            <a:pPr algn="l"/>
            <a:r>
              <a:rPr lang="en-US" altLang="en-US" sz="1800"/>
              <a:t>Authors:          Kenan Fırat &amp; Albert Güveniş</a:t>
            </a:r>
            <a:endParaRPr lang="en-US" altLang="en-US" sz="1800"/>
          </a:p>
          <a:p>
            <a:pPr algn="l"/>
            <a:r>
              <a:rPr lang="en-US" altLang="en-US" sz="1800"/>
              <a:t>Domain:          Medical Image Computing &amp; Cancer Radiomics</a:t>
            </a:r>
            <a:endParaRPr lang="en-US" altLang="en-US" sz="1800"/>
          </a:p>
          <a:p>
            <a:pPr algn="l"/>
            <a:r>
              <a:rPr lang="en-US" altLang="en-US" sz="1800"/>
              <a:t>IEEE Citation:  10.1109/USBEREIT 2026</a:t>
            </a:r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3814762"/>
            <a:ext cx="1102995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36" y="4100512"/>
            <a:ext cx="1809750" cy="16775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8422" y="1889521"/>
            <a:ext cx="1809750" cy="167759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507" y="4100512"/>
            <a:ext cx="1809750" cy="150435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8593" y="2062757"/>
            <a:ext cx="1809750" cy="150435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3678" y="4100512"/>
            <a:ext cx="1809750" cy="150435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8764" y="1889521"/>
            <a:ext cx="1809750" cy="16775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8114" y="4262437"/>
            <a:ext cx="15601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Poppins"/>
              </a:rPr>
              <a:t>1895</a:t>
            </a:r>
            <a:endParaRPr sz="1350" b="1" i="0" u="none">
              <a:solidFill>
                <a:srgbClr val="38BDF8"/>
              </a:solidFill>
              <a:latin typeface="Poppi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5261" y="4576762"/>
            <a:ext cx="1485900" cy="1039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5"/>
              </a:lnSpc>
            </a:pPr>
            <a:r>
              <a:rPr sz="975" b="1" i="0" u="none">
                <a:solidFill>
                  <a:srgbClr val="94A3B8"/>
                </a:solidFill>
                <a:latin typeface="Inter"/>
              </a:rPr>
              <a:t>X-Ray Discovered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Wilhelm Röntgen discovers X-rays, enabling non-invasive qualitative anatomical visualization.</a:t>
            </a:r>
            <a:endParaRPr sz="9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03199" y="2051446"/>
            <a:ext cx="15601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Poppins"/>
              </a:rPr>
              <a:t>1971</a:t>
            </a:r>
            <a:endParaRPr sz="1350" b="1" i="0" u="none">
              <a:solidFill>
                <a:srgbClr val="38BDF8"/>
              </a:solidFill>
              <a:latin typeface="Poppi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40347" y="2365771"/>
            <a:ext cx="1485900" cy="1039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5"/>
              </a:lnSpc>
            </a:pPr>
            <a:r>
              <a:rPr sz="975" b="1" i="0" u="none">
                <a:solidFill>
                  <a:srgbClr val="94A3B8"/>
                </a:solidFill>
                <a:latin typeface="Inter"/>
              </a:rPr>
              <a:t>CT Scanner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Godfrey Hounsfield invents Computed Tomography, introducing 3D density pixel matrices (HU).</a:t>
            </a:r>
            <a:endParaRPr sz="9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78285" y="4262437"/>
            <a:ext cx="15601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Poppins"/>
              </a:rPr>
              <a:t>1973</a:t>
            </a:r>
            <a:endParaRPr sz="1350" b="1" i="0" u="none">
              <a:solidFill>
                <a:srgbClr val="38BDF8"/>
              </a:solidFill>
              <a:latin typeface="Poppi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15432" y="4576762"/>
            <a:ext cx="1485900" cy="866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5"/>
              </a:lnSpc>
            </a:pPr>
            <a:r>
              <a:rPr sz="975" b="1" i="0" u="none">
                <a:solidFill>
                  <a:srgbClr val="94A3B8"/>
                </a:solidFill>
                <a:latin typeface="Inter"/>
              </a:rPr>
              <a:t>Texture Matrix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Haralick proposes GLCM texture features, founding quantitative spatial image analysis.</a:t>
            </a:r>
            <a:endParaRPr sz="9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53370" y="2224682"/>
            <a:ext cx="15601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Poppins"/>
              </a:rPr>
              <a:t>2002</a:t>
            </a:r>
            <a:endParaRPr sz="1350" b="1" i="0" u="none">
              <a:solidFill>
                <a:srgbClr val="38BDF8"/>
              </a:solidFill>
              <a:latin typeface="Poppi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90518" y="2539007"/>
            <a:ext cx="1485900" cy="866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5"/>
              </a:lnSpc>
            </a:pPr>
            <a:r>
              <a:rPr sz="975" b="1" i="0" u="none">
                <a:solidFill>
                  <a:srgbClr val="94A3B8"/>
                </a:solidFill>
                <a:latin typeface="Inter"/>
              </a:rPr>
              <a:t>SMOTE Algorithm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Chawla et al. publish SMOTE to address class imbalance in machine learning datasets.</a:t>
            </a:r>
            <a:endParaRPr sz="9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28456" y="4262437"/>
            <a:ext cx="15601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Poppins"/>
              </a:rPr>
              <a:t>2012</a:t>
            </a:r>
            <a:endParaRPr sz="1350" b="1" i="0" u="none">
              <a:solidFill>
                <a:srgbClr val="38BDF8"/>
              </a:solidFill>
              <a:latin typeface="Poppi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65603" y="4576762"/>
            <a:ext cx="1485900" cy="8661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5"/>
              </a:lnSpc>
            </a:pPr>
            <a:r>
              <a:rPr sz="975" b="1" i="0" u="none">
                <a:solidFill>
                  <a:srgbClr val="94A3B8"/>
                </a:solidFill>
                <a:latin typeface="Inter"/>
              </a:rPr>
              <a:t>Radiomics Termed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Lambin et al. coin "Radiomics" for high-throughput extraction of tumor phenotypes.</a:t>
            </a:r>
            <a:endParaRPr sz="9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003541" y="2051446"/>
            <a:ext cx="156019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38BDF8"/>
                </a:solidFill>
                <a:latin typeface="Poppins"/>
              </a:rPr>
              <a:t>2015+</a:t>
            </a:r>
            <a:endParaRPr sz="1350" b="1" i="0" u="none">
              <a:solidFill>
                <a:srgbClr val="38BDF8"/>
              </a:solidFill>
              <a:latin typeface="Poppi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40689" y="2365771"/>
            <a:ext cx="1485900" cy="1039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5"/>
              </a:lnSpc>
            </a:pPr>
            <a:r>
              <a:rPr sz="975" b="1" i="0" u="none">
                <a:solidFill>
                  <a:srgbClr val="94A3B8"/>
                </a:solidFill>
                <a:latin typeface="Inter"/>
              </a:rPr>
              <a:t>Deep Radiomics</a:t>
            </a:r>
            <a:r>
              <a:t>
</a:t>
            </a:r>
            <a:r>
              <a:rPr sz="975" b="0" i="0" u="none">
                <a:solidFill>
                  <a:srgbClr val="94A3B8"/>
                </a:solidFill>
                <a:latin typeface="Inter"/>
              </a:rPr>
              <a:t> Integration of Deep Learning &amp; ML classifiers into automated quantitative diagnostic pipelines.</a:t>
            </a:r>
            <a:endParaRPr sz="975" b="0" i="0" u="none">
              <a:solidFill>
                <a:srgbClr val="94A3B8"/>
              </a:solidFill>
              <a:latin typeface="Inter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Historical Imaging Timeline</a:t>
            </a:r>
            <a:endParaRPr sz="2700" b="0" i="0" u="none">
              <a:solidFill>
                <a:srgbClr val="F8FAFC"/>
              </a:solidFill>
              <a:latin typeface="Poppins SemiBold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322486" y="374808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97572" y="374808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72657" y="374808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7743" y="374808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22828" y="374808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697914" y="3748087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X Ray</a:t>
            </a:r>
            <a:endParaRPr lang="" altLang="en-US"/>
          </a:p>
        </p:txBody>
      </p:sp>
      <p:pic>
        <p:nvPicPr>
          <p:cNvPr id="5" name="Picture Placeholder 4" descr="X ray photo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7544435" y="1080770"/>
            <a:ext cx="3857625" cy="46958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endParaRPr lang="en-US" altLang="en-US"/>
          </a:p>
          <a:p>
            <a:r>
              <a:rPr lang="" altLang="en-US"/>
              <a:t>X-ray is defined as a form of high energy electromagnetic wave </a:t>
            </a:r>
            <a:endParaRPr lang="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" altLang="en-US"/>
              <a:t>used in imaging to create </a:t>
            </a:r>
            <a:r>
              <a:rPr lang="" altLang="en-US" b="1"/>
              <a:t>pictures of internal bodily structures</a:t>
            </a:r>
            <a:endParaRPr lang="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" altLang="en-US"/>
              <a:t>able to penetrate the body </a:t>
            </a:r>
            <a:endParaRPr lang="" altLang="en-US"/>
          </a:p>
          <a:p>
            <a:pPr>
              <a:buFont typeface="Arial" panose="02080604020202020204" pitchFamily="34" charset="0"/>
            </a:pPr>
            <a:r>
              <a:rPr lang="" altLang="en-US"/>
              <a:t>             </a:t>
            </a:r>
            <a:r>
              <a:rPr lang="" altLang="en-US" sz="2400"/>
              <a:t> &amp;</a:t>
            </a:r>
            <a:endParaRPr lang="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" altLang="en-US"/>
              <a:t>absorbed by different tissues to produce shadow-like images on a detector.</a:t>
            </a:r>
            <a:endParaRPr lang="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6" name="Picture Placeholder 5" descr="Xray_CT technique_fig12_CTscanner_600x0"/>
          <p:cNvPicPr>
            <a:picLocks noChangeAspect="1"/>
          </p:cNvPicPr>
          <p:nvPr>
            <p:ph type="pic" idx="1"/>
          </p:nvPr>
        </p:nvPicPr>
        <p:blipFill>
          <a:blip r:embed="rId1"/>
          <a:stretch>
            <a:fillRect/>
          </a:stretch>
        </p:blipFill>
        <p:spPr>
          <a:xfrm>
            <a:off x="5699760" y="987425"/>
            <a:ext cx="5139055" cy="48736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p>
            <a:r>
              <a:rPr lang="en-US" altLang="en-US"/>
              <a:t>CT Scan : Work on X-Ray photons which allow taking photos of organs and living biostructures</a:t>
            </a:r>
            <a:endParaRPr lang="en-US" altLang="en-US"/>
          </a:p>
          <a:p>
            <a:r>
              <a:rPr lang="en-US" altLang="en-US"/>
              <a:t>CT is a medical imaging modality that employs </a:t>
            </a:r>
            <a:r>
              <a:rPr lang="en-US" altLang="en-US" b="1"/>
              <a:t>x-rays</a:t>
            </a:r>
            <a:r>
              <a:rPr lang="en-US" altLang="en-US"/>
              <a:t> and </a:t>
            </a:r>
            <a:r>
              <a:rPr lang="en-US" altLang="en-US" b="1"/>
              <a:t>computer processing</a:t>
            </a:r>
            <a:r>
              <a:rPr lang="en-US" altLang="en-US"/>
              <a:t> to generate detailed </a:t>
            </a:r>
            <a:r>
              <a:rPr lang="en-US" altLang="en-US" b="1"/>
              <a:t>internal body images</a:t>
            </a:r>
            <a:r>
              <a:rPr lang="en-US" altLang="en-US"/>
              <a:t>. </a:t>
            </a:r>
            <a:endParaRPr lang="en-US" altLang="en-US"/>
          </a:p>
          <a:p>
            <a:r>
              <a:rPr lang="" altLang="en-US"/>
              <a:t>(</a:t>
            </a:r>
            <a:r>
              <a:rPr lang="en-US" altLang="en-US"/>
              <a:t>Yousif A. Al-Naser</a:t>
            </a:r>
            <a:r>
              <a:rPr lang="" altLang="en-US"/>
              <a:t>, 2026)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Data mining : Radiomics inspects CT scan pixel values and construct biologically correlated information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Radiomics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"/>
              <a:t>Techniques of extracting </a:t>
            </a:r>
            <a:r>
              <a:rPr lang="" b="1"/>
              <a:t>useful quantitative informatio</a:t>
            </a:r>
            <a:r>
              <a:rPr lang=""/>
              <a:t>n from medical images</a:t>
            </a:r>
            <a:r>
              <a:rPr lang="en-US"/>
              <a:t>. </a:t>
            </a:r>
            <a:r>
              <a:rPr lang="" altLang="en-US" sz="1800" i="1"/>
              <a:t>(Shafiq-ul-Hassan et al 2017)</a:t>
            </a:r>
            <a:r>
              <a:rPr lang="en-US"/>
              <a:t> </a:t>
            </a:r>
            <a:endParaRPr lang="en-US"/>
          </a:p>
          <a:p>
            <a:r>
              <a:rPr lang="" altLang="en-US"/>
              <a:t>Extraction </a:t>
            </a:r>
            <a:r>
              <a:rPr lang="" altLang="en-US" b="1"/>
              <a:t>clinically relevant information</a:t>
            </a:r>
            <a:r>
              <a:rPr lang="" altLang="en-US"/>
              <a:t> from radiologic images </a:t>
            </a:r>
            <a:r>
              <a:rPr lang="" altLang="en-US" sz="1800" i="1"/>
              <a:t>(MR Tomaszewski, RJ Gillies - Radiology, 2021)</a:t>
            </a:r>
            <a:endParaRPr lang="en-US"/>
          </a:p>
          <a:p>
            <a:r>
              <a:rPr lang="en-US"/>
              <a:t>Radiomic features capture </a:t>
            </a:r>
            <a:r>
              <a:rPr lang="en-US" b="1" i="1"/>
              <a:t>tissue and lesion characteristics </a:t>
            </a:r>
            <a:r>
              <a:rPr lang="en-US" i="1"/>
              <a:t>such as heterogeneity and shape and may, alone or in combination with demographic, histologic, genomic, or proteomic data</a:t>
            </a:r>
            <a:r>
              <a:rPr lang="en-US"/>
              <a:t>, be used for </a:t>
            </a:r>
            <a:r>
              <a:rPr lang="en-US" b="1"/>
              <a:t>clinical problem solving</a:t>
            </a:r>
            <a:r>
              <a:rPr lang="en-US"/>
              <a:t>. </a:t>
            </a:r>
            <a:endParaRPr lang="en-US"/>
          </a:p>
          <a:p>
            <a:pPr marL="0" indent="0">
              <a:buNone/>
            </a:pPr>
            <a:r>
              <a:rPr lang="" altLang="en-US" sz="2000" i="1"/>
              <a:t>(Marious E Mayerhoufer et al 2020)</a:t>
            </a:r>
            <a:endParaRPr lang="" altLang="en-US" sz="20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" altLang="en-US"/>
              <a:t>Radiomics</a:t>
            </a:r>
            <a:endParaRPr lang="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" altLang="en-US"/>
              <a:t>Matematically - Construct comlex matrices</a:t>
            </a:r>
            <a:endParaRPr lang="" altLang="en-US"/>
          </a:p>
          <a:p>
            <a:r>
              <a:rPr lang="" altLang="en-US"/>
              <a:t>Data Science - Data mining from raw data souce(MEdical Images)</a:t>
            </a:r>
            <a:endParaRPr lang="" altLang="en-US"/>
          </a:p>
          <a:p>
            <a:r>
              <a:rPr lang="" altLang="en-US"/>
              <a:t>Cilinically - Construct quantized structure align with biological structure</a:t>
            </a:r>
            <a:endParaRPr lang="" altLang="en-US"/>
          </a:p>
          <a:p>
            <a:endParaRPr lang="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2084</Words>
  <Application>WPS Presentation</Application>
  <PresentationFormat>Widescreen</PresentationFormat>
  <Paragraphs>58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DejaVu Sans</vt:lpstr>
      <vt:lpstr>Calibri</vt:lpstr>
      <vt:lpstr>微软雅黑</vt:lpstr>
      <vt:lpstr>Droid Sans Fallback</vt:lpstr>
      <vt:lpstr>Arial Unicode MS</vt:lpstr>
      <vt:lpstr>Poppins</vt:lpstr>
      <vt:lpstr>Inter</vt:lpstr>
      <vt:lpstr>Poppins SemiBold</vt:lpstr>
      <vt:lpstr>Gubbi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WPP Presentation</dc:title>
  <dc:creator>euphrates</dc:creator>
  <cp:lastModifiedBy>euphrates</cp:lastModifiedBy>
  <cp:revision>9</cp:revision>
  <dcterms:created xsi:type="dcterms:W3CDTF">2026-09-06T18:54:01Z</dcterms:created>
  <dcterms:modified xsi:type="dcterms:W3CDTF">2026-09-06T18:54:01Z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