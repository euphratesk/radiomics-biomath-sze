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4.png" ContentType="image/png"/>
  <Override PartName="/ppt/media/image1.png" ContentType="image/png"/>
  <Override PartName="/ppt/media/image31.png" ContentType="image/png"/>
  <Override PartName="/ppt/media/image25.png" ContentType="image/png"/>
  <Override PartName="/ppt/media/image2.png" ContentType="image/png"/>
  <Override PartName="/ppt/media/image32.png" ContentType="image/png"/>
  <Override PartName="/ppt/media/image26.png" ContentType="image/png"/>
  <Override PartName="/ppt/media/image3.png" ContentType="image/png"/>
  <Override PartName="/ppt/media/image33.png" ContentType="image/png"/>
  <Override PartName="/ppt/media/image27.png" ContentType="image/png"/>
  <Override PartName="/ppt/media/image4.png" ContentType="image/png"/>
  <Override PartName="/ppt/media/image34.png" ContentType="image/png"/>
  <Override PartName="/ppt/media/image28.png" ContentType="image/png"/>
  <Override PartName="/ppt/media/image5.png" ContentType="image/png"/>
  <Override PartName="/ppt/media/image35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50.png" ContentType="image/png"/>
  <Override PartName="/ppt/media/image13.png" ContentType="image/png"/>
  <Override PartName="/ppt/media/image11.png" ContentType="image/png"/>
  <Override PartName="/ppt/media/image48.png" ContentType="image/png"/>
  <Override PartName="/ppt/media/image51.png" ContentType="image/png"/>
  <Override PartName="/ppt/media/image40.png" ContentType="image/png"/>
  <Override PartName="/ppt/media/image52.png" ContentType="image/png"/>
  <Override PartName="/ppt/media/image41.png" ContentType="image/png"/>
  <Override PartName="/ppt/media/image53.png" ContentType="image/png"/>
  <Override PartName="/ppt/media/image30.png" ContentType="image/png"/>
  <Override PartName="/ppt/media/image42.png" ContentType="image/png"/>
  <Override PartName="/ppt/media/image54.png" ContentType="image/png"/>
  <Override PartName="/ppt/media/image39.png" ContentType="image/png"/>
  <Override PartName="/ppt/media/image9.png" ContentType="image/png"/>
  <Override PartName="/ppt/media/image38.png" ContentType="image/png"/>
  <Override PartName="/ppt/media/image8.png" ContentType="image/png"/>
  <Override PartName="/ppt/media/image49.png" ContentType="image/png"/>
  <Override PartName="/ppt/media/image12.png" ContentType="image/png"/>
  <Override PartName="/ppt/media/image10.png" ContentType="image/png"/>
  <Override PartName="/ppt/media/image47.png" ContentType="image/png"/>
  <Override PartName="/ppt/media/image37.png" ContentType="image/png"/>
  <Override PartName="/ppt/media/image7.png" ContentType="image/png"/>
  <Override PartName="/ppt/media/image36.png" ContentType="image/png"/>
  <Override PartName="/ppt/media/image6.png" ContentType="image/png"/>
  <Override PartName="/ppt/media/image29.png" ContentType="image/png"/>
  <Override PartName="/ppt/presProps.xml" ContentType="application/vnd.openxmlformats-officedocument.presentationml.presPro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9F09B1-BBFB-4F94-A661-A041BDC250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7AF6F2-3C43-46EF-991F-7FFA196690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61E38C-6939-4C40-9EE1-B19A21EB0A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16A557-AF2E-4482-ADBB-CB040938F5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E6DC35-29AA-4ACC-9D13-A5632AE2D8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2BEB20-DA89-4A26-A74F-2256CAB827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7DA7FE-D36F-4701-9029-ABB002A131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927CA3-2CFB-4939-B8E4-01E8BA4F72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8A114A-4270-4FEB-A674-B132B450C7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99164F-CDF0-4DA0-A1A4-C72217F47A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7F1AA4-DEEA-4E9D-ADF1-4AC53A2D8BA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638D49-92CF-4C69-9462-99ABFC54C7E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C045E5D-BACA-4B23-9D0A-AE6718C2E74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42" name="Picture 2" descr="image.png"/>
          <p:cNvPicPr/>
          <p:nvPr/>
        </p:nvPicPr>
        <p:blipFill>
          <a:blip r:embed="rId2"/>
          <a:stretch/>
        </p:blipFill>
        <p:spPr>
          <a:xfrm>
            <a:off x="762120" y="4280400"/>
            <a:ext cx="8572320" cy="609120"/>
          </a:xfrm>
          <a:prstGeom prst="rect">
            <a:avLst/>
          </a:prstGeom>
          <a:ln w="0">
            <a:noFill/>
          </a:ln>
        </p:spPr>
      </p:pic>
      <p:pic>
        <p:nvPicPr>
          <p:cNvPr id="43" name="Picture 3" descr="image.pn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44" name="Picture 4" descr="image.png"/>
          <p:cNvPicPr/>
          <p:nvPr/>
        </p:nvPicPr>
        <p:blipFill>
          <a:blip r:embed="rId4"/>
          <a:stretch/>
        </p:blipFill>
        <p:spPr>
          <a:xfrm>
            <a:off x="762120" y="1967760"/>
            <a:ext cx="2361960" cy="237600"/>
          </a:xfrm>
          <a:prstGeom prst="rect">
            <a:avLst/>
          </a:prstGeom>
          <a:ln w="0">
            <a:noFill/>
          </a:ln>
        </p:spPr>
      </p:pic>
      <p:sp>
        <p:nvSpPr>
          <p:cNvPr id="45" name="TextBox 5"/>
          <p:cNvSpPr/>
          <p:nvPr/>
        </p:nvSpPr>
        <p:spPr>
          <a:xfrm>
            <a:off x="762120" y="2320200"/>
            <a:ext cx="1000080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311"/>
              </a:lnSpc>
              <a:buNone/>
            </a:pPr>
            <a:r>
              <a:rPr b="0" lang="en-US" sz="3750" spc="-1" strike="noStrike">
                <a:solidFill>
                  <a:srgbClr val="ffffff"/>
                </a:solidFill>
                <a:latin typeface="Plus Jakarta Sans ExtraBold"/>
              </a:rPr>
              <a:t>The Limitations of SMOTE &amp; Class Imbalance in Low-Sample Radiomics</a:t>
            </a:r>
            <a:endParaRPr b="0" lang="en-US" sz="3750" spc="-1" strike="noStrike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762120" y="3606120"/>
            <a:ext cx="678132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310"/>
              </a:lnSpc>
              <a:buNone/>
            </a:pPr>
            <a:r>
              <a:rPr b="0" lang="en-US" sz="1650" spc="-1" strike="noStrike">
                <a:solidFill>
                  <a:srgbClr val="94a3b8"/>
                </a:solidFill>
                <a:latin typeface="Inter"/>
              </a:rPr>
              <a:t>A Cautionary Case Study in Renal Mass Differentiation (RCC vs. AML)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762120" y="4528080"/>
            <a:ext cx="228564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30" spc="-1" strike="noStrike">
                <a:solidFill>
                  <a:srgbClr val="38bdf8"/>
                </a:solidFill>
                <a:latin typeface="Inter"/>
              </a:rPr>
              <a:t>Authors:</a:t>
            </a:r>
            <a:r>
              <a:rPr b="0" lang="en-US" sz="1130" spc="-1" strike="noStrike">
                <a:solidFill>
                  <a:srgbClr val="cbd5e1"/>
                </a:solidFill>
                <a:latin typeface="Inter"/>
              </a:rPr>
              <a:t> Kenan Fırat &amp; Albert Güveniş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3333600" y="4528080"/>
            <a:ext cx="337788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30" spc="-1" strike="noStrike">
                <a:solidFill>
                  <a:srgbClr val="38bdf8"/>
                </a:solidFill>
                <a:latin typeface="Inter"/>
              </a:rPr>
              <a:t>Domain:</a:t>
            </a:r>
            <a:r>
              <a:rPr b="0" lang="en-US" sz="1130" spc="-1" strike="noStrike">
                <a:solidFill>
                  <a:srgbClr val="cbd5e1"/>
                </a:solidFill>
                <a:latin typeface="Inter"/>
              </a:rPr>
              <a:t> Medical Image Computing &amp; Cancer Radiomics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49" name="TextBox 9"/>
          <p:cNvSpPr/>
          <p:nvPr/>
        </p:nvSpPr>
        <p:spPr>
          <a:xfrm>
            <a:off x="6997680" y="4528080"/>
            <a:ext cx="233640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30" spc="-1" strike="noStrike">
                <a:solidFill>
                  <a:srgbClr val="38bdf8"/>
                </a:solidFill>
                <a:latin typeface="Inter"/>
              </a:rPr>
              <a:t>IEEE Citation:</a:t>
            </a:r>
            <a:r>
              <a:rPr b="0" lang="en-US" sz="1130" spc="-1" strike="noStrike">
                <a:solidFill>
                  <a:srgbClr val="cbd5e1"/>
                </a:solidFill>
                <a:latin typeface="Inter"/>
              </a:rPr>
              <a:t> 10.1109 / USBEREIT 2026</a:t>
            </a:r>
            <a:endParaRPr b="0" lang="en-US" sz="113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51" name="Picture 2" descr="image.png"/>
          <p:cNvPicPr/>
          <p:nvPr/>
        </p:nvPicPr>
        <p:blipFill>
          <a:blip r:embed="rId2"/>
          <a:stretch/>
        </p:blipFill>
        <p:spPr>
          <a:xfrm>
            <a:off x="6286680" y="1938240"/>
            <a:ext cx="5333760" cy="3619080"/>
          </a:xfrm>
          <a:prstGeom prst="rect">
            <a:avLst/>
          </a:prstGeom>
          <a:ln w="0">
            <a:noFill/>
          </a:ln>
        </p:spPr>
      </p:pic>
      <p:pic>
        <p:nvPicPr>
          <p:cNvPr id="52" name="Picture 3" descr="image.png"/>
          <p:cNvPicPr/>
          <p:nvPr/>
        </p:nvPicPr>
        <p:blipFill>
          <a:blip r:embed="rId3"/>
          <a:stretch/>
        </p:blipFill>
        <p:spPr>
          <a:xfrm>
            <a:off x="571680" y="2356560"/>
            <a:ext cx="2115000" cy="237600"/>
          </a:xfrm>
          <a:prstGeom prst="rect">
            <a:avLst/>
          </a:prstGeom>
          <a:ln w="0">
            <a:noFill/>
          </a:ln>
        </p:spPr>
      </p:pic>
      <p:sp>
        <p:nvSpPr>
          <p:cNvPr id="53" name="TextBox 4"/>
          <p:cNvSpPr/>
          <p:nvPr/>
        </p:nvSpPr>
        <p:spPr>
          <a:xfrm>
            <a:off x="571680" y="2709000"/>
            <a:ext cx="533376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1" lang="en-US" sz="1200" spc="-1" strike="noStrike">
                <a:solidFill>
                  <a:srgbClr val="475569"/>
                </a:solidFill>
                <a:latin typeface="Inter"/>
              </a:rPr>
              <a:t>Beyond standard visual inspection:</a:t>
            </a: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 Radiomics converts non-invasive standard CT scan volumes into minable, high-dimensional quantitative spatial feature spaces ($D &gt; 1000$).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571680" y="3570120"/>
            <a:ext cx="533376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1" lang="en-US" sz="1200" spc="-1" strike="noStrike">
                <a:solidFill>
                  <a:srgbClr val="475569"/>
                </a:solidFill>
                <a:latin typeface="Inter"/>
              </a:rPr>
              <a:t>Clinical Context:</a:t>
            </a: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 Differentiating invasive </a:t>
            </a:r>
            <a:r>
              <a:rPr b="0" i="1" lang="en-US" sz="1200" spc="-1" strike="noStrike">
                <a:solidFill>
                  <a:srgbClr val="475569"/>
                </a:solidFill>
                <a:latin typeface="Inter"/>
              </a:rPr>
              <a:t>Renal Cell Carcinoma (RCC)</a:t>
            </a: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 from benign </a:t>
            </a:r>
            <a:r>
              <a:rPr b="0" i="1" lang="en-US" sz="1200" spc="-1" strike="noStrike">
                <a:solidFill>
                  <a:srgbClr val="475569"/>
                </a:solidFill>
                <a:latin typeface="Inter"/>
              </a:rPr>
              <a:t>Angiomyolipoma (AML)</a:t>
            </a: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 is vital to avoid unnecessary nephrectomies.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571680" y="4430880"/>
            <a:ext cx="533376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1" lang="en-US" sz="1200" spc="-1" strike="noStrike">
                <a:solidFill>
                  <a:srgbClr val="475569"/>
                </a:solidFill>
                <a:latin typeface="Inter"/>
              </a:rPr>
              <a:t>The Fat-Poor AML Dilemma:</a:t>
            </a: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 Fat-poor AML variants lack macroscopic fat signatures, appearing visually identical to RCC on standard Hounsfield Unit (HU) CT scans.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56" name="Picture 7" descr="image.png"/>
          <p:cNvPicPr/>
          <p:nvPr/>
        </p:nvPicPr>
        <p:blipFill>
          <a:blip r:embed="rId4"/>
          <a:stretch/>
        </p:blipFill>
        <p:spPr>
          <a:xfrm>
            <a:off x="6296040" y="1947960"/>
            <a:ext cx="5314680" cy="3600000"/>
          </a:xfrm>
          <a:prstGeom prst="rect">
            <a:avLst/>
          </a:prstGeom>
          <a:ln w="0">
            <a:noFill/>
          </a:ln>
        </p:spPr>
      </p:pic>
      <p:sp>
        <p:nvSpPr>
          <p:cNvPr id="57" name="TextBox 8"/>
          <p:cNvSpPr/>
          <p:nvPr/>
        </p:nvSpPr>
        <p:spPr>
          <a:xfrm>
            <a:off x="714240" y="474120"/>
            <a:ext cx="11451240" cy="4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ts val="3186"/>
              </a:lnSpc>
              <a:buNone/>
            </a:pPr>
            <a:r>
              <a:rPr b="1" lang="en-US" sz="2550" spc="-1" strike="noStrike">
                <a:solidFill>
                  <a:srgbClr val="0f172a"/>
                </a:solidFill>
                <a:latin typeface="Plus Jakarta Sans"/>
              </a:rPr>
              <a:t>What is Cancer Radiomics?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58" name="Rectangle 9"/>
          <p:cNvSpPr/>
          <p:nvPr/>
        </p:nvSpPr>
        <p:spPr>
          <a:xfrm>
            <a:off x="571680" y="476280"/>
            <a:ext cx="47160" cy="3996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60" name="Picture 2" descr="image.png"/>
          <p:cNvPicPr/>
          <p:nvPr/>
        </p:nvPicPr>
        <p:blipFill>
          <a:blip r:embed="rId2"/>
          <a:stretch/>
        </p:blipFill>
        <p:spPr>
          <a:xfrm>
            <a:off x="571680" y="2629080"/>
            <a:ext cx="5333760" cy="2237760"/>
          </a:xfrm>
          <a:prstGeom prst="rect">
            <a:avLst/>
          </a:prstGeom>
          <a:ln w="0">
            <a:noFill/>
          </a:ln>
        </p:spPr>
      </p:pic>
      <p:pic>
        <p:nvPicPr>
          <p:cNvPr id="61" name="Picture 3" descr="image.png"/>
          <p:cNvPicPr/>
          <p:nvPr/>
        </p:nvPicPr>
        <p:blipFill>
          <a:blip r:embed="rId3"/>
          <a:stretch/>
        </p:blipFill>
        <p:spPr>
          <a:xfrm>
            <a:off x="6286680" y="2629080"/>
            <a:ext cx="5333760" cy="2237760"/>
          </a:xfrm>
          <a:prstGeom prst="rect">
            <a:avLst/>
          </a:prstGeom>
          <a:ln w="0">
            <a:noFill/>
          </a:ln>
        </p:spPr>
      </p:pic>
      <p:sp>
        <p:nvSpPr>
          <p:cNvPr id="62" name="TextBox 4"/>
          <p:cNvSpPr/>
          <p:nvPr/>
        </p:nvSpPr>
        <p:spPr>
          <a:xfrm>
            <a:off x="1148760" y="2928600"/>
            <a:ext cx="46839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284c7"/>
                </a:solidFill>
                <a:latin typeface="Plus Jakarta Sans"/>
              </a:rPr>
              <a:t>Severe Data Scarcity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866880" y="3276720"/>
            <a:ext cx="474300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Rare pathologies yield tiny cohorts. Typical clinical datasets contain under 100 total cases, severely restricting statistical power.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866880" y="4099320"/>
            <a:ext cx="474300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In high-dimensional spaces ($D = 1182$ PyRadiomics features), vector density is extremely sparse ($N \ll D$).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6911280" y="2928600"/>
            <a:ext cx="46342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284c7"/>
                </a:solidFill>
                <a:latin typeface="Plus Jakarta Sans"/>
              </a:rPr>
              <a:t>Skewed Class Distribution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6581880" y="3276720"/>
            <a:ext cx="474300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Biological rarity induces heavy class imbalance (~84% RCC vs. ~16% AML; 58 malignant vs. 11 benign cases).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7" name="TextBox 9"/>
          <p:cNvSpPr/>
          <p:nvPr/>
        </p:nvSpPr>
        <p:spPr>
          <a:xfrm>
            <a:off x="6581880" y="3863160"/>
            <a:ext cx="474300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Machine learning models naturally collapse toward the majority class without intervention, causing high accuracy illusions.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68" name="Picture 10" descr="image.png"/>
          <p:cNvPicPr/>
          <p:nvPr/>
        </p:nvPicPr>
        <p:blipFill>
          <a:blip r:embed="rId4"/>
          <a:stretch/>
        </p:blipFill>
        <p:spPr>
          <a:xfrm>
            <a:off x="866880" y="2948040"/>
            <a:ext cx="186480" cy="190080"/>
          </a:xfrm>
          <a:prstGeom prst="rect">
            <a:avLst/>
          </a:prstGeom>
          <a:ln w="0">
            <a:noFill/>
          </a:ln>
        </p:spPr>
      </p:pic>
      <p:pic>
        <p:nvPicPr>
          <p:cNvPr id="69" name="Picture 11" descr="image.png"/>
          <p:cNvPicPr/>
          <p:nvPr/>
        </p:nvPicPr>
        <p:blipFill>
          <a:blip r:embed="rId5"/>
          <a:stretch/>
        </p:blipFill>
        <p:spPr>
          <a:xfrm>
            <a:off x="6581880" y="2948040"/>
            <a:ext cx="234000" cy="190080"/>
          </a:xfrm>
          <a:prstGeom prst="rect">
            <a:avLst/>
          </a:prstGeom>
          <a:ln w="0">
            <a:noFill/>
          </a:ln>
        </p:spPr>
      </p:pic>
      <p:sp>
        <p:nvSpPr>
          <p:cNvPr id="70" name="TextBox 12"/>
          <p:cNvSpPr/>
          <p:nvPr/>
        </p:nvSpPr>
        <p:spPr>
          <a:xfrm>
            <a:off x="714240" y="474120"/>
            <a:ext cx="11451240" cy="4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ts val="3186"/>
              </a:lnSpc>
              <a:buNone/>
            </a:pPr>
            <a:r>
              <a:rPr b="1" lang="en-US" sz="2550" spc="-1" strike="noStrike">
                <a:solidFill>
                  <a:srgbClr val="0f172a"/>
                </a:solidFill>
                <a:latin typeface="Plus Jakarta Sans"/>
              </a:rPr>
              <a:t>Challenges: Small Datasets &amp; Imbalance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71" name="Rectangle 13"/>
          <p:cNvSpPr/>
          <p:nvPr/>
        </p:nvSpPr>
        <p:spPr>
          <a:xfrm>
            <a:off x="571680" y="476280"/>
            <a:ext cx="47160" cy="3996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73" name="TextBox 2"/>
          <p:cNvSpPr/>
          <p:nvPr/>
        </p:nvSpPr>
        <p:spPr>
          <a:xfrm>
            <a:off x="714240" y="367200"/>
            <a:ext cx="5450400" cy="80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ts val="3186"/>
              </a:lnSpc>
              <a:buNone/>
            </a:pPr>
            <a:r>
              <a:rPr b="1" lang="en-US" sz="2550" spc="-1" strike="noStrike">
                <a:solidFill>
                  <a:srgbClr val="0f172a"/>
                </a:solidFill>
                <a:latin typeface="Plus Jakarta Sans"/>
              </a:rPr>
              <a:t>SMOTE: Popularity &amp; Mechanics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571680" y="571680"/>
            <a:ext cx="47160" cy="3996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5" name="Picture 4" descr="image.png"/>
          <p:cNvPicPr/>
          <p:nvPr/>
        </p:nvPicPr>
        <p:blipFill>
          <a:blip r:embed="rId2"/>
          <a:stretch/>
        </p:blipFill>
        <p:spPr>
          <a:xfrm>
            <a:off x="6286680" y="0"/>
            <a:ext cx="5905080" cy="6857640"/>
          </a:xfrm>
          <a:prstGeom prst="rect">
            <a:avLst/>
          </a:prstGeom>
          <a:ln w="0">
            <a:noFill/>
          </a:ln>
        </p:spPr>
      </p:pic>
      <p:sp>
        <p:nvSpPr>
          <p:cNvPr id="76" name="TextBox 5"/>
          <p:cNvSpPr/>
          <p:nvPr/>
        </p:nvSpPr>
        <p:spPr>
          <a:xfrm>
            <a:off x="571680" y="2930040"/>
            <a:ext cx="560052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10" spc="-1" strike="noStrike">
                <a:solidFill>
                  <a:srgbClr val="0f172a"/>
                </a:solidFill>
                <a:latin typeface="Plus Jakarta Sans"/>
              </a:rPr>
              <a:t>Synthetic Minority Over-sampling</a:t>
            </a:r>
            <a:endParaRPr b="0" lang="en-US" sz="1410" spc="-1" strike="noStrike">
              <a:latin typeface="Arial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571680" y="3148920"/>
            <a:ext cx="533376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1" lang="en-US" sz="1200" spc="-1" strike="noStrike">
                <a:solidFill>
                  <a:srgbClr val="475569"/>
                </a:solidFill>
                <a:latin typeface="Inter"/>
              </a:rPr>
              <a:t>What is SMOTE?</a:t>
            </a: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 Tabular algorithm synthesizing synthetic minority instances via linear interpolation between original minority samples and their nearest $k$-neighbors in feature space.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571680" y="3857760"/>
            <a:ext cx="533376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1" lang="en-US" sz="1200" spc="-1" strike="noStrike">
                <a:solidFill>
                  <a:srgbClr val="475569"/>
                </a:solidFill>
                <a:latin typeface="Inter"/>
              </a:rPr>
              <a:t>Why so widely used?</a:t>
            </a: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 Simple off-the-shelf implementation, fixes metric skewness instantly, and is heavily endorsed in generic tabular ML benchmark literature.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80" name="Picture 2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3" descr="image.png"/>
          <p:cNvPicPr/>
          <p:nvPr/>
        </p:nvPicPr>
        <p:blipFill>
          <a:blip r:embed="rId3"/>
          <a:stretch/>
        </p:blipFill>
        <p:spPr>
          <a:xfrm>
            <a:off x="5232600" y="2238480"/>
            <a:ext cx="1726200" cy="237600"/>
          </a:xfrm>
          <a:prstGeom prst="rect">
            <a:avLst/>
          </a:prstGeom>
          <a:ln w="0">
            <a:noFill/>
          </a:ln>
        </p:spPr>
      </p:pic>
      <p:sp>
        <p:nvSpPr>
          <p:cNvPr id="82" name="TextBox 4"/>
          <p:cNvSpPr/>
          <p:nvPr/>
        </p:nvSpPr>
        <p:spPr>
          <a:xfrm>
            <a:off x="3530880" y="2590920"/>
            <a:ext cx="5129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f172a"/>
                </a:solidFill>
                <a:latin typeface="Plus Jakarta Sans"/>
              </a:rPr>
              <a:t>Objective of This Paper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3" name="Rectangle 5"/>
          <p:cNvSpPr/>
          <p:nvPr/>
        </p:nvSpPr>
        <p:spPr>
          <a:xfrm>
            <a:off x="5715000" y="3505320"/>
            <a:ext cx="761760" cy="378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TextBox 6"/>
          <p:cNvSpPr/>
          <p:nvPr/>
        </p:nvSpPr>
        <p:spPr>
          <a:xfrm>
            <a:off x="2762280" y="3733920"/>
            <a:ext cx="6667200" cy="11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324"/>
              </a:lnSpc>
              <a:buNone/>
            </a:pPr>
            <a:r>
              <a:rPr b="0" lang="en-US" sz="1500" spc="-1" strike="noStrike">
                <a:solidFill>
                  <a:srgbClr val="64748b"/>
                </a:solidFill>
                <a:latin typeface="Inter"/>
              </a:rPr>
              <a:t>A critical methodological intervention evaluating whether feature-space oversampling (SMOTE) can anchor a stable decision boundary when pipelines are bound to small, severely imbalanced radiomics cohorts.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86" name="Picture 2" descr="image.png"/>
          <p:cNvPicPr/>
          <p:nvPr/>
        </p:nvPicPr>
        <p:blipFill>
          <a:blip r:embed="rId2"/>
          <a:stretch/>
        </p:blipFill>
        <p:spPr>
          <a:xfrm>
            <a:off x="571680" y="2475720"/>
            <a:ext cx="3524040" cy="2544480"/>
          </a:xfrm>
          <a:prstGeom prst="rect">
            <a:avLst/>
          </a:prstGeom>
          <a:ln w="0">
            <a:noFill/>
          </a:ln>
        </p:spPr>
      </p:pic>
      <p:pic>
        <p:nvPicPr>
          <p:cNvPr id="87" name="Picture 3" descr="image.png"/>
          <p:cNvPicPr/>
          <p:nvPr/>
        </p:nvPicPr>
        <p:blipFill>
          <a:blip r:embed="rId3"/>
          <a:stretch/>
        </p:blipFill>
        <p:spPr>
          <a:xfrm>
            <a:off x="4334040" y="2475720"/>
            <a:ext cx="3524040" cy="2544480"/>
          </a:xfrm>
          <a:prstGeom prst="rect">
            <a:avLst/>
          </a:prstGeom>
          <a:ln w="0">
            <a:noFill/>
          </a:ln>
        </p:spPr>
      </p:pic>
      <p:pic>
        <p:nvPicPr>
          <p:cNvPr id="88" name="Picture 4" descr="image.png"/>
          <p:cNvPicPr/>
          <p:nvPr/>
        </p:nvPicPr>
        <p:blipFill>
          <a:blip r:embed="rId4"/>
          <a:stretch/>
        </p:blipFill>
        <p:spPr>
          <a:xfrm>
            <a:off x="8096400" y="2475720"/>
            <a:ext cx="3524040" cy="2544480"/>
          </a:xfrm>
          <a:prstGeom prst="rect">
            <a:avLst/>
          </a:prstGeom>
          <a:ln w="0">
            <a:noFill/>
          </a:ln>
        </p:spPr>
      </p:pic>
      <p:pic>
        <p:nvPicPr>
          <p:cNvPr id="89" name="Picture 5" descr="image.png"/>
          <p:cNvPicPr/>
          <p:nvPr/>
        </p:nvPicPr>
        <p:blipFill>
          <a:blip r:embed="rId5"/>
          <a:stretch/>
        </p:blipFill>
        <p:spPr>
          <a:xfrm>
            <a:off x="790560" y="2751840"/>
            <a:ext cx="571320" cy="571320"/>
          </a:xfrm>
          <a:prstGeom prst="rect">
            <a:avLst/>
          </a:prstGeom>
          <a:ln w="0">
            <a:noFill/>
          </a:ln>
        </p:spPr>
      </p:pic>
      <p:sp>
        <p:nvSpPr>
          <p:cNvPr id="90" name="TextBox 6"/>
          <p:cNvSpPr/>
          <p:nvPr/>
        </p:nvSpPr>
        <p:spPr>
          <a:xfrm>
            <a:off x="790560" y="3475800"/>
            <a:ext cx="32400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30" spc="-1" strike="noStrike">
                <a:solidFill>
                  <a:srgbClr val="0f172a"/>
                </a:solidFill>
                <a:latin typeface="Plus Jakarta Sans"/>
              </a:rPr>
              <a:t>Dual-State Evaluation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91" name="TextBox 7"/>
          <p:cNvSpPr/>
          <p:nvPr/>
        </p:nvSpPr>
        <p:spPr>
          <a:xfrm>
            <a:off x="790560" y="3799440"/>
            <a:ext cx="308592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Direct head-to-head comparison evaluating pipelines strictly in </a:t>
            </a:r>
            <a:r>
              <a:rPr b="1" lang="en-US" sz="1200" spc="-1" strike="noStrike">
                <a:solidFill>
                  <a:srgbClr val="475569"/>
                </a:solidFill>
                <a:latin typeface="Inter"/>
              </a:rPr>
              <a:t>"With-SMOTE"</a:t>
            </a: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 versus </a:t>
            </a:r>
            <a:r>
              <a:rPr b="1" lang="en-US" sz="1200" spc="-1" strike="noStrike">
                <a:solidFill>
                  <a:srgbClr val="475569"/>
                </a:solidFill>
                <a:latin typeface="Inter"/>
              </a:rPr>
              <a:t>"Without-SMOTE"</a:t>
            </a: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 configurations under identical splits.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2" name="Picture 8" descr="image.png"/>
          <p:cNvPicPr/>
          <p:nvPr/>
        </p:nvPicPr>
        <p:blipFill>
          <a:blip r:embed="rId6"/>
          <a:stretch/>
        </p:blipFill>
        <p:spPr>
          <a:xfrm>
            <a:off x="4552920" y="2751840"/>
            <a:ext cx="571320" cy="571320"/>
          </a:xfrm>
          <a:prstGeom prst="rect">
            <a:avLst/>
          </a:prstGeom>
          <a:ln w="0">
            <a:noFill/>
          </a:ln>
        </p:spPr>
      </p:pic>
      <p:sp>
        <p:nvSpPr>
          <p:cNvPr id="93" name="TextBox 9"/>
          <p:cNvSpPr/>
          <p:nvPr/>
        </p:nvSpPr>
        <p:spPr>
          <a:xfrm>
            <a:off x="4552920" y="3475800"/>
            <a:ext cx="32400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30" spc="-1" strike="noStrike">
                <a:solidFill>
                  <a:srgbClr val="0f172a"/>
                </a:solidFill>
                <a:latin typeface="Plus Jakarta Sans"/>
              </a:rPr>
              <a:t>Nested Cross-Validation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4552920" y="3799440"/>
            <a:ext cx="308592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Full multi-fold nested CV isolating test folds to eliminate hyperparameter tuning leaks and expose full variance across data partitions.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5" name="Picture 11" descr="image.png"/>
          <p:cNvPicPr/>
          <p:nvPr/>
        </p:nvPicPr>
        <p:blipFill>
          <a:blip r:embed="rId7"/>
          <a:stretch/>
        </p:blipFill>
        <p:spPr>
          <a:xfrm>
            <a:off x="8315280" y="2751840"/>
            <a:ext cx="571320" cy="571320"/>
          </a:xfrm>
          <a:prstGeom prst="rect">
            <a:avLst/>
          </a:prstGeom>
          <a:ln w="0">
            <a:noFill/>
          </a:ln>
        </p:spPr>
      </p:pic>
      <p:sp>
        <p:nvSpPr>
          <p:cNvPr id="96" name="TextBox 12"/>
          <p:cNvSpPr/>
          <p:nvPr/>
        </p:nvSpPr>
        <p:spPr>
          <a:xfrm>
            <a:off x="8315280" y="3475800"/>
            <a:ext cx="32400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30" spc="-1" strike="noStrike">
                <a:solidFill>
                  <a:srgbClr val="0f172a"/>
                </a:solidFill>
                <a:latin typeface="Plus Jakarta Sans"/>
              </a:rPr>
              <a:t>Exposing Metric Illusions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97" name="TextBox 13"/>
          <p:cNvSpPr/>
          <p:nvPr/>
        </p:nvSpPr>
        <p:spPr>
          <a:xfrm>
            <a:off x="8315280" y="3799440"/>
            <a:ext cx="308592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Foregrounding full multi-fold distributions to prove how single "lucky" train-test splits inflate published radiomics performance literature.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8" name="Picture 14" descr="image.png"/>
          <p:cNvPicPr/>
          <p:nvPr/>
        </p:nvPicPr>
        <p:blipFill>
          <a:blip r:embed="rId8"/>
          <a:stretch/>
        </p:blipFill>
        <p:spPr>
          <a:xfrm>
            <a:off x="923760" y="2885040"/>
            <a:ext cx="304560" cy="304560"/>
          </a:xfrm>
          <a:prstGeom prst="rect">
            <a:avLst/>
          </a:prstGeom>
          <a:ln w="0">
            <a:noFill/>
          </a:ln>
        </p:spPr>
      </p:pic>
      <p:pic>
        <p:nvPicPr>
          <p:cNvPr id="99" name="Picture 15" descr="image.png"/>
          <p:cNvPicPr/>
          <p:nvPr/>
        </p:nvPicPr>
        <p:blipFill>
          <a:blip r:embed="rId9"/>
          <a:stretch/>
        </p:blipFill>
        <p:spPr>
          <a:xfrm>
            <a:off x="4686480" y="2885040"/>
            <a:ext cx="304560" cy="304560"/>
          </a:xfrm>
          <a:prstGeom prst="rect">
            <a:avLst/>
          </a:prstGeom>
          <a:ln w="0">
            <a:noFill/>
          </a:ln>
        </p:spPr>
      </p:pic>
      <p:pic>
        <p:nvPicPr>
          <p:cNvPr id="100" name="Picture 16" descr="image.png"/>
          <p:cNvPicPr/>
          <p:nvPr/>
        </p:nvPicPr>
        <p:blipFill>
          <a:blip r:embed="rId10"/>
          <a:stretch/>
        </p:blipFill>
        <p:spPr>
          <a:xfrm>
            <a:off x="8429760" y="2885040"/>
            <a:ext cx="342720" cy="304560"/>
          </a:xfrm>
          <a:prstGeom prst="rect">
            <a:avLst/>
          </a:prstGeom>
          <a:ln w="0">
            <a:noFill/>
          </a:ln>
        </p:spPr>
      </p:pic>
      <p:sp>
        <p:nvSpPr>
          <p:cNvPr id="101" name="TextBox 17"/>
          <p:cNvSpPr/>
          <p:nvPr/>
        </p:nvSpPr>
        <p:spPr>
          <a:xfrm>
            <a:off x="714240" y="474120"/>
            <a:ext cx="11451240" cy="4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ts val="3186"/>
              </a:lnSpc>
              <a:buNone/>
            </a:pPr>
            <a:r>
              <a:rPr b="1" lang="en-US" sz="2550" spc="-1" strike="noStrike">
                <a:solidFill>
                  <a:srgbClr val="0f172a"/>
                </a:solidFill>
                <a:latin typeface="Plus Jakarta Sans"/>
              </a:rPr>
              <a:t>Novelty &amp; Methodological Rigor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102" name="Rectangle 18"/>
          <p:cNvSpPr/>
          <p:nvPr/>
        </p:nvSpPr>
        <p:spPr>
          <a:xfrm>
            <a:off x="571680" y="476280"/>
            <a:ext cx="47160" cy="3996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04" name="Picture 2" descr="image.png"/>
          <p:cNvPicPr/>
          <p:nvPr/>
        </p:nvPicPr>
        <p:blipFill>
          <a:blip r:embed="rId2"/>
          <a:stretch/>
        </p:blipFill>
        <p:spPr>
          <a:xfrm>
            <a:off x="571680" y="2395080"/>
            <a:ext cx="11048760" cy="27057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05" name="Table 3"/>
          <p:cNvGraphicFramePr/>
          <p:nvPr/>
        </p:nvGraphicFramePr>
        <p:xfrm>
          <a:off x="581040" y="2404440"/>
          <a:ext cx="11029680" cy="2687040"/>
        </p:xfrm>
        <a:graphic>
          <a:graphicData uri="http://schemas.openxmlformats.org/drawingml/2006/table">
            <a:tbl>
              <a:tblPr/>
              <a:tblGrid>
                <a:gridCol w="1487520"/>
                <a:gridCol w="6085800"/>
                <a:gridCol w="3456360"/>
              </a:tblGrid>
              <a:tr h="44784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fffff"/>
                          </a:solidFill>
                          <a:latin typeface="Plus Jakarta Sans SemiBold"/>
                        </a:rPr>
                        <a:t>Pipeline Stage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fffff"/>
                          </a:solidFill>
                          <a:latin typeface="Plus Jakarta Sans SemiBold"/>
                        </a:rPr>
                        <a:t>Technical Specifications &amp; Protocol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fffff"/>
                          </a:solidFill>
                          <a:latin typeface="Plus Jakarta Sans SemiBold"/>
                        </a:rPr>
                        <a:t>Purpose / Optimization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4784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Dataset Cohort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UCSF RMaC CT ($N=69$; 58 RCC vs. 11 AML)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Arterial phase contrast-enhanced CT scans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44784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Preprocessing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$1\text{mm} \times 1\text{mm} \times 1\text{mm}$ isotropic resampling + Z-score HU scale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Device normalization &amp; scanner artifact removal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4784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Feature Space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PyRadiomics ($D = 1182$ volumetric features)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Shape, LoG spatial filters, Wavelet matrices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44784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Feature Selection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ANOVA SelectKBest executed within inner loops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Strict isolation within CV folds to prevent leakage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4784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Classifiers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SVC (Primary Focus), Random Forest, XGBoost, KNN, LogReg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Convex boundary optimization vs tree ensembles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6" name="Rectangle 4"/>
          <p:cNvSpPr/>
          <p:nvPr/>
        </p:nvSpPr>
        <p:spPr>
          <a:xfrm>
            <a:off x="581040" y="3308040"/>
            <a:ext cx="14875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Rectangle 5"/>
          <p:cNvSpPr/>
          <p:nvPr/>
        </p:nvSpPr>
        <p:spPr>
          <a:xfrm>
            <a:off x="2068920" y="3308040"/>
            <a:ext cx="60858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Rectangle 6"/>
          <p:cNvSpPr/>
          <p:nvPr/>
        </p:nvSpPr>
        <p:spPr>
          <a:xfrm>
            <a:off x="8154720" y="3308040"/>
            <a:ext cx="34556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Rectangle 7"/>
          <p:cNvSpPr/>
          <p:nvPr/>
        </p:nvSpPr>
        <p:spPr>
          <a:xfrm>
            <a:off x="581040" y="3753000"/>
            <a:ext cx="14875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Rectangle 8"/>
          <p:cNvSpPr/>
          <p:nvPr/>
        </p:nvSpPr>
        <p:spPr>
          <a:xfrm>
            <a:off x="2068920" y="3753000"/>
            <a:ext cx="60858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1" name="Rectangle 9"/>
          <p:cNvSpPr/>
          <p:nvPr/>
        </p:nvSpPr>
        <p:spPr>
          <a:xfrm>
            <a:off x="8154720" y="3753000"/>
            <a:ext cx="34556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Rectangle 10"/>
          <p:cNvSpPr/>
          <p:nvPr/>
        </p:nvSpPr>
        <p:spPr>
          <a:xfrm>
            <a:off x="581040" y="4197600"/>
            <a:ext cx="14875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Rectangle 11"/>
          <p:cNvSpPr/>
          <p:nvPr/>
        </p:nvSpPr>
        <p:spPr>
          <a:xfrm>
            <a:off x="2068920" y="4197600"/>
            <a:ext cx="60858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4" name="Rectangle 12"/>
          <p:cNvSpPr/>
          <p:nvPr/>
        </p:nvSpPr>
        <p:spPr>
          <a:xfrm>
            <a:off x="8154720" y="4197600"/>
            <a:ext cx="34556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Rectangle 13"/>
          <p:cNvSpPr/>
          <p:nvPr/>
        </p:nvSpPr>
        <p:spPr>
          <a:xfrm>
            <a:off x="581040" y="4642200"/>
            <a:ext cx="14875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Rectangle 14"/>
          <p:cNvSpPr/>
          <p:nvPr/>
        </p:nvSpPr>
        <p:spPr>
          <a:xfrm>
            <a:off x="2068920" y="4642200"/>
            <a:ext cx="60858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Rectangle 15"/>
          <p:cNvSpPr/>
          <p:nvPr/>
        </p:nvSpPr>
        <p:spPr>
          <a:xfrm>
            <a:off x="8154720" y="4642200"/>
            <a:ext cx="34556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8" name="TextBox 16"/>
          <p:cNvSpPr/>
          <p:nvPr/>
        </p:nvSpPr>
        <p:spPr>
          <a:xfrm>
            <a:off x="714240" y="474120"/>
            <a:ext cx="11451240" cy="4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ts val="3186"/>
              </a:lnSpc>
              <a:buNone/>
            </a:pPr>
            <a:r>
              <a:rPr b="1" lang="en-US" sz="2550" spc="-1" strike="noStrike">
                <a:solidFill>
                  <a:srgbClr val="0f172a"/>
                </a:solidFill>
                <a:latin typeface="Plus Jakarta Sans"/>
              </a:rPr>
              <a:t>Experimental Methods &amp; Dataset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119" name="Rectangle 17"/>
          <p:cNvSpPr/>
          <p:nvPr/>
        </p:nvSpPr>
        <p:spPr>
          <a:xfrm>
            <a:off x="571680" y="476280"/>
            <a:ext cx="47160" cy="3996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21" name="Picture 2" descr="image.png"/>
          <p:cNvPicPr/>
          <p:nvPr/>
        </p:nvPicPr>
        <p:blipFill>
          <a:blip r:embed="rId2"/>
          <a:stretch/>
        </p:blipFill>
        <p:spPr>
          <a:xfrm>
            <a:off x="571680" y="2188440"/>
            <a:ext cx="11048760" cy="31190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22" name="Table 3"/>
          <p:cNvGraphicFramePr/>
          <p:nvPr/>
        </p:nvGraphicFramePr>
        <p:xfrm>
          <a:off x="581040" y="2197800"/>
          <a:ext cx="11029680" cy="3099960"/>
        </p:xfrm>
        <a:graphic>
          <a:graphicData uri="http://schemas.openxmlformats.org/drawingml/2006/table">
            <a:tbl>
              <a:tblPr/>
              <a:tblGrid>
                <a:gridCol w="1866240"/>
                <a:gridCol w="2124360"/>
                <a:gridCol w="2562120"/>
                <a:gridCol w="2454120"/>
                <a:gridCol w="2022840"/>
              </a:tblGrid>
              <a:tr h="5166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fffff"/>
                          </a:solidFill>
                          <a:latin typeface="Plus Jakarta Sans SemiBold"/>
                        </a:rPr>
                        <a:t>Classifier Algorithm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fffff"/>
                          </a:solidFill>
                          <a:latin typeface="Plus Jakarta Sans SemiBold"/>
                        </a:rPr>
                        <a:t>Single-Fold Best Peak AUC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fffff"/>
                          </a:solidFill>
                          <a:latin typeface="Plus Jakarta Sans SemiBold"/>
                        </a:rPr>
                        <a:t>Multi-Fold Mean AUC (With SMOTE)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fffff"/>
                          </a:solidFill>
                          <a:latin typeface="Plus Jakarta Sans SemiBold"/>
                        </a:rPr>
                        <a:t>Multi-Fold Mean AUC (No SMOTE)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fffff"/>
                          </a:solidFill>
                          <a:latin typeface="Plus Jakarta Sans SemiBold"/>
                        </a:rPr>
                        <a:t>Computational Strain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66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Support Vector (SVC)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 SemiBold"/>
                        </a:rPr>
                        <a:t>0.81 AUC (Fold 2)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 SemiBold"/>
                        </a:rPr>
                        <a:t>0.49 ± 0.19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0.51 ± 0.20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 SemiBold"/>
                        </a:rPr>
                        <a:t>Low (Deterministic convex)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0f9ff"/>
                    </a:solidFill>
                  </a:tcPr>
                </a:tc>
              </a:tr>
              <a:tr h="5166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XGBoost Ensemble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0.90 AUC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0.61 ± 0.14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0.60 ± 0.20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Moderate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66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Random Forest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0.94 AUC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0.61 ± 0.21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0.57 ± 0.20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High (Execution timeouts)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5166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K-Nearest Neighbors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0.81 AUC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0.49 ± 0.25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0.45 ± 0.20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Low (Instance-based)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696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Logistic Regression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0.72 AUC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0.51 ± 0.15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0.62 ± 0.17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475569"/>
                          </a:solidFill>
                          <a:latin typeface="Inter"/>
                        </a:rPr>
                        <a:t>Low (Linear baseline)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3" name="Rectangle 4"/>
          <p:cNvSpPr/>
          <p:nvPr/>
        </p:nvSpPr>
        <p:spPr>
          <a:xfrm>
            <a:off x="581040" y="3514680"/>
            <a:ext cx="1866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Rectangle 5"/>
          <p:cNvSpPr/>
          <p:nvPr/>
        </p:nvSpPr>
        <p:spPr>
          <a:xfrm>
            <a:off x="2447640" y="3514680"/>
            <a:ext cx="2124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Rectangle 6"/>
          <p:cNvSpPr/>
          <p:nvPr/>
        </p:nvSpPr>
        <p:spPr>
          <a:xfrm>
            <a:off x="4572000" y="3514680"/>
            <a:ext cx="25621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6" name="Rectangle 7"/>
          <p:cNvSpPr/>
          <p:nvPr/>
        </p:nvSpPr>
        <p:spPr>
          <a:xfrm>
            <a:off x="7134480" y="3514680"/>
            <a:ext cx="24541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7" name="Rectangle 8"/>
          <p:cNvSpPr/>
          <p:nvPr/>
        </p:nvSpPr>
        <p:spPr>
          <a:xfrm>
            <a:off x="9588600" y="3514680"/>
            <a:ext cx="2021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Rectangle 9"/>
          <p:cNvSpPr/>
          <p:nvPr/>
        </p:nvSpPr>
        <p:spPr>
          <a:xfrm>
            <a:off x="581040" y="3959280"/>
            <a:ext cx="1866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Rectangle 10"/>
          <p:cNvSpPr/>
          <p:nvPr/>
        </p:nvSpPr>
        <p:spPr>
          <a:xfrm>
            <a:off x="2447640" y="3959280"/>
            <a:ext cx="2124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Rectangle 11"/>
          <p:cNvSpPr/>
          <p:nvPr/>
        </p:nvSpPr>
        <p:spPr>
          <a:xfrm>
            <a:off x="4572000" y="3959280"/>
            <a:ext cx="25621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Rectangle 12"/>
          <p:cNvSpPr/>
          <p:nvPr/>
        </p:nvSpPr>
        <p:spPr>
          <a:xfrm>
            <a:off x="7134480" y="3959280"/>
            <a:ext cx="24541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Rectangle 13"/>
          <p:cNvSpPr/>
          <p:nvPr/>
        </p:nvSpPr>
        <p:spPr>
          <a:xfrm>
            <a:off x="9588600" y="3959280"/>
            <a:ext cx="2021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Rectangle 14"/>
          <p:cNvSpPr/>
          <p:nvPr/>
        </p:nvSpPr>
        <p:spPr>
          <a:xfrm>
            <a:off x="581040" y="4404240"/>
            <a:ext cx="1866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" name="Rectangle 15"/>
          <p:cNvSpPr/>
          <p:nvPr/>
        </p:nvSpPr>
        <p:spPr>
          <a:xfrm>
            <a:off x="2447640" y="4404240"/>
            <a:ext cx="2124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Rectangle 16"/>
          <p:cNvSpPr/>
          <p:nvPr/>
        </p:nvSpPr>
        <p:spPr>
          <a:xfrm>
            <a:off x="4572000" y="4404240"/>
            <a:ext cx="25621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Rectangle 17"/>
          <p:cNvSpPr/>
          <p:nvPr/>
        </p:nvSpPr>
        <p:spPr>
          <a:xfrm>
            <a:off x="7134480" y="4404240"/>
            <a:ext cx="24541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7" name="Rectangle 18"/>
          <p:cNvSpPr/>
          <p:nvPr/>
        </p:nvSpPr>
        <p:spPr>
          <a:xfrm>
            <a:off x="9588600" y="4404240"/>
            <a:ext cx="2021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Rectangle 19"/>
          <p:cNvSpPr/>
          <p:nvPr/>
        </p:nvSpPr>
        <p:spPr>
          <a:xfrm>
            <a:off x="581040" y="4848840"/>
            <a:ext cx="1866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Rectangle 20"/>
          <p:cNvSpPr/>
          <p:nvPr/>
        </p:nvSpPr>
        <p:spPr>
          <a:xfrm>
            <a:off x="2447640" y="4848840"/>
            <a:ext cx="2124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Rectangle 21"/>
          <p:cNvSpPr/>
          <p:nvPr/>
        </p:nvSpPr>
        <p:spPr>
          <a:xfrm>
            <a:off x="4572000" y="4848840"/>
            <a:ext cx="25621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1" name="Rectangle 22"/>
          <p:cNvSpPr/>
          <p:nvPr/>
        </p:nvSpPr>
        <p:spPr>
          <a:xfrm>
            <a:off x="7134480" y="4848840"/>
            <a:ext cx="24541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2" name="Rectangle 23"/>
          <p:cNvSpPr/>
          <p:nvPr/>
        </p:nvSpPr>
        <p:spPr>
          <a:xfrm>
            <a:off x="9588600" y="4848840"/>
            <a:ext cx="2021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TextBox 24"/>
          <p:cNvSpPr/>
          <p:nvPr/>
        </p:nvSpPr>
        <p:spPr>
          <a:xfrm>
            <a:off x="714240" y="474120"/>
            <a:ext cx="11451240" cy="4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ts val="3186"/>
              </a:lnSpc>
              <a:buNone/>
            </a:pPr>
            <a:r>
              <a:rPr b="1" lang="en-US" sz="2550" spc="-1" strike="noStrike">
                <a:solidFill>
                  <a:srgbClr val="0f172a"/>
                </a:solidFill>
                <a:latin typeface="Plus Jakarta Sans"/>
              </a:rPr>
              <a:t>Results: Single-Fold vs Multi-Fold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144" name="Rectangle 25"/>
          <p:cNvSpPr/>
          <p:nvPr/>
        </p:nvSpPr>
        <p:spPr>
          <a:xfrm>
            <a:off x="571680" y="476280"/>
            <a:ext cx="47160" cy="3996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46" name="Picture 2" descr="image.png"/>
          <p:cNvPicPr/>
          <p:nvPr/>
        </p:nvPicPr>
        <p:blipFill>
          <a:blip r:embed="rId2"/>
          <a:stretch/>
        </p:blipFill>
        <p:spPr>
          <a:xfrm>
            <a:off x="571680" y="2641680"/>
            <a:ext cx="3047760" cy="2212200"/>
          </a:xfrm>
          <a:prstGeom prst="rect">
            <a:avLst/>
          </a:prstGeom>
          <a:ln w="0">
            <a:noFill/>
          </a:ln>
        </p:spPr>
      </p:pic>
      <p:sp>
        <p:nvSpPr>
          <p:cNvPr id="147" name="TextBox 3"/>
          <p:cNvSpPr/>
          <p:nvPr/>
        </p:nvSpPr>
        <p:spPr>
          <a:xfrm>
            <a:off x="857160" y="3022920"/>
            <a:ext cx="2476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5400"/>
              </a:lnSpc>
              <a:buNone/>
            </a:pPr>
            <a:r>
              <a:rPr b="0" lang="en-US" sz="5400" spc="-1" strike="noStrike">
                <a:solidFill>
                  <a:srgbClr val="38bdf8"/>
                </a:solidFill>
                <a:latin typeface="Plus Jakarta Sans ExtraBold"/>
              </a:rPr>
              <a:t>0.49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857160" y="3803760"/>
            <a:ext cx="2476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4a3b8"/>
                </a:solidFill>
                <a:latin typeface="Inter Medium"/>
              </a:rPr>
              <a:t>SVC MEAN AUC WITH SMOTE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9" name="TextBox 5"/>
          <p:cNvSpPr/>
          <p:nvPr/>
        </p:nvSpPr>
        <p:spPr>
          <a:xfrm>
            <a:off x="857160" y="4089600"/>
            <a:ext cx="24760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1511"/>
              </a:lnSpc>
              <a:buNone/>
            </a:pPr>
            <a:r>
              <a:rPr b="0" lang="en-US" sz="980" spc="-1" strike="noStrike">
                <a:solidFill>
                  <a:srgbClr val="cbd5e1"/>
                </a:solidFill>
                <a:latin typeface="Inter"/>
              </a:rPr>
              <a:t>Statistically indistinguishable from random chance (0.50)</a:t>
            </a:r>
            <a:endParaRPr b="0" lang="en-US" sz="980" spc="-1" strike="noStrike">
              <a:latin typeface="Arial"/>
            </a:endParaRPr>
          </a:p>
        </p:txBody>
      </p:sp>
      <p:sp>
        <p:nvSpPr>
          <p:cNvPr id="150" name="TextBox 6"/>
          <p:cNvSpPr/>
          <p:nvPr/>
        </p:nvSpPr>
        <p:spPr>
          <a:xfrm>
            <a:off x="4000680" y="2796480"/>
            <a:ext cx="800064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10" spc="-1" strike="noStrike">
                <a:solidFill>
                  <a:srgbClr val="0f172a"/>
                </a:solidFill>
                <a:latin typeface="Plus Jakarta Sans"/>
              </a:rPr>
              <a:t>Deceptive Metric Spikes Exposed</a:t>
            </a:r>
            <a:endParaRPr b="0" lang="en-US" sz="1410" spc="-1" strike="noStrike">
              <a:latin typeface="Arial"/>
            </a:endParaRPr>
          </a:p>
        </p:txBody>
      </p:sp>
      <p:sp>
        <p:nvSpPr>
          <p:cNvPr id="151" name="TextBox 7"/>
          <p:cNvSpPr/>
          <p:nvPr/>
        </p:nvSpPr>
        <p:spPr>
          <a:xfrm>
            <a:off x="4000680" y="3015720"/>
            <a:ext cx="761976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1" lang="en-US" sz="1200" spc="-1" strike="noStrike">
                <a:solidFill>
                  <a:srgbClr val="475569"/>
                </a:solidFill>
                <a:latin typeface="Inter"/>
              </a:rPr>
              <a:t>No Genuine Gains:</a:t>
            </a: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 Adding SMOTE yielded zero performance recovery over the raw unhandled baseline ($AUC = 0.49 \pm 0.19$ vs $0.51 \pm 0.20$).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2" name="TextBox 8"/>
          <p:cNvSpPr/>
          <p:nvPr/>
        </p:nvSpPr>
        <p:spPr>
          <a:xfrm>
            <a:off x="4000680" y="3621600"/>
            <a:ext cx="761976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1" lang="en-US" sz="1200" spc="-1" strike="noStrike">
                <a:solidFill>
                  <a:srgbClr val="475569"/>
                </a:solidFill>
                <a:latin typeface="Inter"/>
              </a:rPr>
              <a:t>Single-Fold Volatility:</a:t>
            </a: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 In Fold 2, SVC achieved a deceptive peak AUC of 0.81 (94.1% Accuracy). In single train-test setups, this would be published as a successful model.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3" name="TextBox 9"/>
          <p:cNvSpPr/>
          <p:nvPr/>
        </p:nvSpPr>
        <p:spPr>
          <a:xfrm>
            <a:off x="4000680" y="4227120"/>
            <a:ext cx="761976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1" lang="en-US" sz="1200" spc="-1" strike="noStrike">
                <a:solidFill>
                  <a:srgbClr val="475569"/>
                </a:solidFill>
                <a:latin typeface="Inter"/>
              </a:rPr>
              <a:t>Biological Reality:</a:t>
            </a: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 Raw PyRadiomics features lack a separable biological signal for RCC vs fat-poor AML within a single-institution CT scope.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4" name="TextBox 10"/>
          <p:cNvSpPr/>
          <p:nvPr/>
        </p:nvSpPr>
        <p:spPr>
          <a:xfrm>
            <a:off x="714240" y="474120"/>
            <a:ext cx="11451240" cy="4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ts val="3186"/>
              </a:lnSpc>
              <a:buNone/>
            </a:pPr>
            <a:r>
              <a:rPr b="1" lang="en-US" sz="2550" spc="-1" strike="noStrike">
                <a:solidFill>
                  <a:srgbClr val="0f172a"/>
                </a:solidFill>
                <a:latin typeface="Plus Jakarta Sans"/>
              </a:rPr>
              <a:t>Findings: Complete Model Collapse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155" name="Rectangle 11"/>
          <p:cNvSpPr/>
          <p:nvPr/>
        </p:nvSpPr>
        <p:spPr>
          <a:xfrm>
            <a:off x="571680" y="476280"/>
            <a:ext cx="47160" cy="3996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57" name="Picture 2" descr="image.png"/>
          <p:cNvPicPr/>
          <p:nvPr/>
        </p:nvPicPr>
        <p:blipFill>
          <a:blip r:embed="rId2"/>
          <a:stretch/>
        </p:blipFill>
        <p:spPr>
          <a:xfrm>
            <a:off x="571680" y="2629080"/>
            <a:ext cx="5333760" cy="2237760"/>
          </a:xfrm>
          <a:prstGeom prst="rect">
            <a:avLst/>
          </a:prstGeom>
          <a:ln w="0">
            <a:noFill/>
          </a:ln>
        </p:spPr>
      </p:pic>
      <p:pic>
        <p:nvPicPr>
          <p:cNvPr id="158" name="Picture 3" descr="image.png"/>
          <p:cNvPicPr/>
          <p:nvPr/>
        </p:nvPicPr>
        <p:blipFill>
          <a:blip r:embed="rId3"/>
          <a:stretch/>
        </p:blipFill>
        <p:spPr>
          <a:xfrm>
            <a:off x="6286680" y="2629080"/>
            <a:ext cx="5333760" cy="2237760"/>
          </a:xfrm>
          <a:prstGeom prst="rect">
            <a:avLst/>
          </a:prstGeom>
          <a:ln w="0">
            <a:noFill/>
          </a:ln>
        </p:spPr>
      </p:pic>
      <p:sp>
        <p:nvSpPr>
          <p:cNvPr id="159" name="TextBox 4"/>
          <p:cNvSpPr/>
          <p:nvPr/>
        </p:nvSpPr>
        <p:spPr>
          <a:xfrm>
            <a:off x="1148760" y="2928600"/>
            <a:ext cx="46839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284c7"/>
                </a:solidFill>
                <a:latin typeface="Plus Jakarta Sans"/>
              </a:rPr>
              <a:t>High-Dimensional Sparsity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60" name="TextBox 5"/>
          <p:cNvSpPr/>
          <p:nvPr/>
        </p:nvSpPr>
        <p:spPr>
          <a:xfrm>
            <a:off x="866880" y="3276720"/>
            <a:ext cx="474300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With only 11 AML cases ($N_{\text{minority}} &lt; 15$), training folds hold just 8-9 vectors. Interpolating in $D = 1182$ space creates extreme geometric sparsity.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1" name="TextBox 6"/>
          <p:cNvSpPr/>
          <p:nvPr/>
        </p:nvSpPr>
        <p:spPr>
          <a:xfrm>
            <a:off x="866880" y="4099320"/>
            <a:ext cx="474300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Linear interpolation creates arbitrary line segments that fail to sample the true biological distribution of tumor phenotypes.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2" name="TextBox 7"/>
          <p:cNvSpPr/>
          <p:nvPr/>
        </p:nvSpPr>
        <p:spPr>
          <a:xfrm>
            <a:off x="6911280" y="2928600"/>
            <a:ext cx="46342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284c7"/>
                </a:solidFill>
                <a:latin typeface="Plus Jakarta Sans"/>
              </a:rPr>
              <a:t>Unphysical Noise Generation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63" name="TextBox 8"/>
          <p:cNvSpPr/>
          <p:nvPr/>
        </p:nvSpPr>
        <p:spPr>
          <a:xfrm>
            <a:off x="6581880" y="3276720"/>
            <a:ext cx="474300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Tabular SMOTE operates blindly in abstract mathematical spaces, completely uncoupled from 3D anatomical reality and X-ray photon physics.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4" name="TextBox 9"/>
          <p:cNvSpPr/>
          <p:nvPr/>
        </p:nvSpPr>
        <p:spPr>
          <a:xfrm>
            <a:off x="6581880" y="4099320"/>
            <a:ext cx="474300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Synthesizing abstract feature vectors produces unphysical noise clusters that shift the decision boundary erratically between folds.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65" name="Picture 10" descr="image.png"/>
          <p:cNvPicPr/>
          <p:nvPr/>
        </p:nvPicPr>
        <p:blipFill>
          <a:blip r:embed="rId4"/>
          <a:stretch/>
        </p:blipFill>
        <p:spPr>
          <a:xfrm>
            <a:off x="866880" y="2948040"/>
            <a:ext cx="186480" cy="190080"/>
          </a:xfrm>
          <a:prstGeom prst="rect">
            <a:avLst/>
          </a:prstGeom>
          <a:ln w="0">
            <a:noFill/>
          </a:ln>
        </p:spPr>
      </p:pic>
      <p:pic>
        <p:nvPicPr>
          <p:cNvPr id="166" name="Picture 11" descr="image.png"/>
          <p:cNvPicPr/>
          <p:nvPr/>
        </p:nvPicPr>
        <p:blipFill>
          <a:blip r:embed="rId5"/>
          <a:stretch/>
        </p:blipFill>
        <p:spPr>
          <a:xfrm>
            <a:off x="6581880" y="2948040"/>
            <a:ext cx="234000" cy="190080"/>
          </a:xfrm>
          <a:prstGeom prst="rect">
            <a:avLst/>
          </a:prstGeom>
          <a:ln w="0">
            <a:noFill/>
          </a:ln>
        </p:spPr>
      </p:pic>
      <p:sp>
        <p:nvSpPr>
          <p:cNvPr id="167" name="TextBox 12"/>
          <p:cNvSpPr/>
          <p:nvPr/>
        </p:nvSpPr>
        <p:spPr>
          <a:xfrm>
            <a:off x="714240" y="474120"/>
            <a:ext cx="11451240" cy="4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ts val="3186"/>
              </a:lnSpc>
              <a:buNone/>
            </a:pPr>
            <a:r>
              <a:rPr b="1" lang="en-US" sz="2550" spc="-1" strike="noStrike">
                <a:solidFill>
                  <a:srgbClr val="0f172a"/>
                </a:solidFill>
                <a:latin typeface="Plus Jakarta Sans"/>
              </a:rPr>
              <a:t>Why SMOTE Fails in Radiomics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168" name="Rectangle 13"/>
          <p:cNvSpPr/>
          <p:nvPr/>
        </p:nvSpPr>
        <p:spPr>
          <a:xfrm>
            <a:off x="571680" y="476280"/>
            <a:ext cx="47160" cy="3996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70" name="TextBox 2"/>
          <p:cNvSpPr/>
          <p:nvPr/>
        </p:nvSpPr>
        <p:spPr>
          <a:xfrm>
            <a:off x="952560" y="2709720"/>
            <a:ext cx="106675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976"/>
              </a:lnSpc>
              <a:buNone/>
            </a:pPr>
            <a:r>
              <a:rPr b="1" lang="en-US" sz="1280" spc="-1" strike="noStrike">
                <a:solidFill>
                  <a:srgbClr val="0f172a"/>
                </a:solidFill>
                <a:latin typeface="Inter"/>
              </a:rPr>
              <a:t>Small Sample Size Constraints:</a:t>
            </a:r>
            <a:r>
              <a:rPr b="0" lang="en-US" sz="1280" spc="-1" strike="noStrike">
                <a:solidFill>
                  <a:srgbClr val="475569"/>
                </a:solidFill>
                <a:latin typeface="Inter"/>
              </a:rPr>
              <a:t> Cohort ($N=69$) is intentionally small to serve as a case study, though high-dimensional interpolation failure applies universally to scarce datasets.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171" name="TextBox 3"/>
          <p:cNvSpPr/>
          <p:nvPr/>
        </p:nvSpPr>
        <p:spPr>
          <a:xfrm>
            <a:off x="952560" y="3402000"/>
            <a:ext cx="106675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976"/>
              </a:lnSpc>
              <a:buNone/>
            </a:pPr>
            <a:r>
              <a:rPr b="1" lang="en-US" sz="1280" spc="-1" strike="noStrike">
                <a:solidFill>
                  <a:srgbClr val="0f172a"/>
                </a:solidFill>
                <a:latin typeface="Inter"/>
              </a:rPr>
              <a:t>Single-Institution Scope:</a:t>
            </a:r>
            <a:r>
              <a:rPr b="0" lang="en-US" sz="1280" spc="-1" strike="noStrike">
                <a:solidFill>
                  <a:srgbClr val="475569"/>
                </a:solidFill>
                <a:latin typeface="Inter"/>
              </a:rPr>
              <a:t> Image acquisition was restricted to UCSF RMaC arterial-phase CT scans; multi-center external validation is needed for broader generalization.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172" name="TextBox 4"/>
          <p:cNvSpPr/>
          <p:nvPr/>
        </p:nvSpPr>
        <p:spPr>
          <a:xfrm>
            <a:off x="952560" y="4094280"/>
            <a:ext cx="106675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976"/>
              </a:lnSpc>
              <a:buNone/>
            </a:pPr>
            <a:r>
              <a:rPr b="1" lang="en-US" sz="1280" spc="-1" strike="noStrike">
                <a:solidFill>
                  <a:srgbClr val="0f172a"/>
                </a:solidFill>
                <a:latin typeface="Inter"/>
              </a:rPr>
              <a:t>Hypothesis Unproven On Image-Level:</a:t>
            </a:r>
            <a:r>
              <a:rPr b="0" lang="en-US" sz="1280" spc="-1" strike="noStrike">
                <a:solidFill>
                  <a:srgbClr val="475569"/>
                </a:solidFill>
                <a:latin typeface="Inter"/>
              </a:rPr>
              <a:t> While shifting from tabular SMOTE to 3D image-level augmentation is theoretically well-grounded, its empirical rescue capacity requires further testing.</a:t>
            </a:r>
            <a:endParaRPr b="0" lang="en-US" sz="1280" spc="-1" strike="noStrike">
              <a:latin typeface="Arial"/>
            </a:endParaRPr>
          </a:p>
        </p:txBody>
      </p:sp>
      <p:pic>
        <p:nvPicPr>
          <p:cNvPr id="173" name="Picture 5" descr="image.png"/>
          <p:cNvPicPr/>
          <p:nvPr/>
        </p:nvPicPr>
        <p:blipFill>
          <a:blip r:embed="rId2"/>
          <a:stretch/>
        </p:blipFill>
        <p:spPr>
          <a:xfrm>
            <a:off x="571680" y="2723760"/>
            <a:ext cx="209160" cy="218880"/>
          </a:xfrm>
          <a:prstGeom prst="rect">
            <a:avLst/>
          </a:prstGeom>
          <a:ln w="0">
            <a:noFill/>
          </a:ln>
        </p:spPr>
      </p:pic>
      <p:pic>
        <p:nvPicPr>
          <p:cNvPr id="174" name="Picture 6" descr="image.png"/>
          <p:cNvPicPr/>
          <p:nvPr/>
        </p:nvPicPr>
        <p:blipFill>
          <a:blip r:embed="rId3"/>
          <a:stretch/>
        </p:blipFill>
        <p:spPr>
          <a:xfrm>
            <a:off x="571680" y="3416040"/>
            <a:ext cx="237600" cy="218880"/>
          </a:xfrm>
          <a:prstGeom prst="rect">
            <a:avLst/>
          </a:prstGeom>
          <a:ln w="0">
            <a:noFill/>
          </a:ln>
        </p:spPr>
      </p:pic>
      <p:pic>
        <p:nvPicPr>
          <p:cNvPr id="175" name="Picture 7" descr="image.png"/>
          <p:cNvPicPr/>
          <p:nvPr/>
        </p:nvPicPr>
        <p:blipFill>
          <a:blip r:embed="rId4"/>
          <a:stretch/>
        </p:blipFill>
        <p:spPr>
          <a:xfrm>
            <a:off x="571680" y="4108680"/>
            <a:ext cx="209160" cy="218880"/>
          </a:xfrm>
          <a:prstGeom prst="rect">
            <a:avLst/>
          </a:prstGeom>
          <a:ln w="0">
            <a:noFill/>
          </a:ln>
        </p:spPr>
      </p:pic>
      <p:sp>
        <p:nvSpPr>
          <p:cNvPr id="176" name="TextBox 8"/>
          <p:cNvSpPr/>
          <p:nvPr/>
        </p:nvSpPr>
        <p:spPr>
          <a:xfrm>
            <a:off x="714240" y="474120"/>
            <a:ext cx="11451240" cy="4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ts val="3186"/>
              </a:lnSpc>
              <a:buNone/>
            </a:pPr>
            <a:r>
              <a:rPr b="1" lang="en-US" sz="2550" spc="-1" strike="noStrike">
                <a:solidFill>
                  <a:srgbClr val="0f172a"/>
                </a:solidFill>
                <a:latin typeface="Plus Jakarta Sans"/>
              </a:rPr>
              <a:t>Study Limitations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177" name="Rectangle 9"/>
          <p:cNvSpPr/>
          <p:nvPr/>
        </p:nvSpPr>
        <p:spPr>
          <a:xfrm>
            <a:off x="571680" y="476280"/>
            <a:ext cx="47160" cy="3996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79" name="Picture 2" descr="image.png"/>
          <p:cNvPicPr/>
          <p:nvPr/>
        </p:nvPicPr>
        <p:blipFill>
          <a:blip r:embed="rId2"/>
          <a:stretch/>
        </p:blipFill>
        <p:spPr>
          <a:xfrm>
            <a:off x="571680" y="4449960"/>
            <a:ext cx="5604120" cy="647280"/>
          </a:xfrm>
          <a:prstGeom prst="rect">
            <a:avLst/>
          </a:prstGeom>
          <a:ln w="0">
            <a:noFill/>
          </a:ln>
        </p:spPr>
      </p:pic>
      <p:pic>
        <p:nvPicPr>
          <p:cNvPr id="180" name="Picture 3" descr="image.png"/>
          <p:cNvPicPr/>
          <p:nvPr/>
        </p:nvPicPr>
        <p:blipFill>
          <a:blip r:embed="rId3"/>
          <a:stretch/>
        </p:blipFill>
        <p:spPr>
          <a:xfrm>
            <a:off x="6366600" y="4449960"/>
            <a:ext cx="5253840" cy="647280"/>
          </a:xfrm>
          <a:prstGeom prst="rect">
            <a:avLst/>
          </a:prstGeom>
          <a:ln w="0">
            <a:noFill/>
          </a:ln>
        </p:spPr>
      </p:pic>
      <p:sp>
        <p:nvSpPr>
          <p:cNvPr id="181" name="TextBox 4"/>
          <p:cNvSpPr/>
          <p:nvPr/>
        </p:nvSpPr>
        <p:spPr>
          <a:xfrm>
            <a:off x="1952640" y="2398320"/>
            <a:ext cx="82864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359"/>
              </a:lnSpc>
              <a:buNone/>
            </a:pPr>
            <a:r>
              <a:rPr b="0" lang="en-US" sz="2400" spc="-1" strike="noStrike">
                <a:solidFill>
                  <a:srgbClr val="0f172a"/>
                </a:solidFill>
                <a:latin typeface="Plus Jakarta Sans SemiBold"/>
              </a:rPr>
              <a:t>"Tabular oversampling is an invalid fix for low-sample radiomics. It creates metric illusions rather than genuine diagnostic signal."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2" name="TextBox 5"/>
          <p:cNvSpPr/>
          <p:nvPr/>
        </p:nvSpPr>
        <p:spPr>
          <a:xfrm>
            <a:off x="4376880" y="3916440"/>
            <a:ext cx="3438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0284c7"/>
                </a:solidFill>
                <a:latin typeface="Inter SemiBold"/>
              </a:rPr>
              <a:t>— </a:t>
            </a:r>
            <a:r>
              <a:rPr b="0" lang="en-US" sz="1350" spc="-1" strike="noStrike">
                <a:solidFill>
                  <a:srgbClr val="0284c7"/>
                </a:solidFill>
                <a:latin typeface="Inter SemiBold"/>
              </a:rPr>
              <a:t>Fırat &amp; Güveniş, IEEE Case Study 2026</a:t>
            </a:r>
            <a:endParaRPr b="0" lang="en-US" sz="1350" spc="-1" strike="noStrike">
              <a:latin typeface="Arial"/>
            </a:endParaRPr>
          </a:p>
        </p:txBody>
      </p:sp>
      <p:pic>
        <p:nvPicPr>
          <p:cNvPr id="183" name="Picture 6" descr="image.png"/>
          <p:cNvPicPr/>
          <p:nvPr/>
        </p:nvPicPr>
        <p:blipFill>
          <a:blip r:embed="rId4"/>
          <a:stretch/>
        </p:blipFill>
        <p:spPr>
          <a:xfrm>
            <a:off x="809640" y="4611960"/>
            <a:ext cx="104400" cy="142560"/>
          </a:xfrm>
          <a:prstGeom prst="rect">
            <a:avLst/>
          </a:prstGeom>
          <a:ln w="0">
            <a:noFill/>
          </a:ln>
        </p:spPr>
      </p:pic>
      <p:pic>
        <p:nvPicPr>
          <p:cNvPr id="184" name="Picture 7" descr="image.png"/>
          <p:cNvPicPr/>
          <p:nvPr/>
        </p:nvPicPr>
        <p:blipFill>
          <a:blip r:embed="rId5"/>
          <a:stretch/>
        </p:blipFill>
        <p:spPr>
          <a:xfrm>
            <a:off x="6604560" y="4611960"/>
            <a:ext cx="123480" cy="142560"/>
          </a:xfrm>
          <a:prstGeom prst="rect">
            <a:avLst/>
          </a:prstGeom>
          <a:ln w="0">
            <a:noFill/>
          </a:ln>
        </p:spPr>
      </p:pic>
      <p:sp>
        <p:nvSpPr>
          <p:cNvPr id="185" name="TextBox 8"/>
          <p:cNvSpPr/>
          <p:nvPr/>
        </p:nvSpPr>
        <p:spPr>
          <a:xfrm>
            <a:off x="714240" y="474120"/>
            <a:ext cx="11451240" cy="4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ts val="3186"/>
              </a:lnSpc>
              <a:buNone/>
            </a:pPr>
            <a:r>
              <a:rPr b="1" lang="en-US" sz="2550" spc="-1" strike="noStrike">
                <a:solidFill>
                  <a:srgbClr val="0f172a"/>
                </a:solidFill>
                <a:latin typeface="Plus Jakarta Sans"/>
              </a:rPr>
              <a:t>Conclusions &amp; Methodological Lessons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186" name="Rectangle 9"/>
          <p:cNvSpPr/>
          <p:nvPr/>
        </p:nvSpPr>
        <p:spPr>
          <a:xfrm>
            <a:off x="571680" y="476280"/>
            <a:ext cx="47160" cy="3996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88" name="TextBox 2"/>
          <p:cNvSpPr/>
          <p:nvPr/>
        </p:nvSpPr>
        <p:spPr>
          <a:xfrm>
            <a:off x="714240" y="367200"/>
            <a:ext cx="5450400" cy="80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ts val="3186"/>
              </a:lnSpc>
              <a:buNone/>
            </a:pPr>
            <a:r>
              <a:rPr b="1" lang="en-US" sz="2550" spc="-1" strike="noStrike">
                <a:solidFill>
                  <a:srgbClr val="0f172a"/>
                </a:solidFill>
                <a:latin typeface="Plus Jakarta Sans"/>
              </a:rPr>
              <a:t>Future Work: Image-Level Shift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189" name="Rectangle 3"/>
          <p:cNvSpPr/>
          <p:nvPr/>
        </p:nvSpPr>
        <p:spPr>
          <a:xfrm>
            <a:off x="571680" y="571680"/>
            <a:ext cx="47160" cy="3996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90" name="Picture 4" descr="image.png"/>
          <p:cNvPicPr/>
          <p:nvPr/>
        </p:nvPicPr>
        <p:blipFill>
          <a:blip r:embed="rId2"/>
          <a:stretch/>
        </p:blipFill>
        <p:spPr>
          <a:xfrm>
            <a:off x="6286680" y="0"/>
            <a:ext cx="5905080" cy="6857640"/>
          </a:xfrm>
          <a:prstGeom prst="rect">
            <a:avLst/>
          </a:prstGeom>
          <a:ln w="0">
            <a:noFill/>
          </a:ln>
        </p:spPr>
      </p:pic>
      <p:sp>
        <p:nvSpPr>
          <p:cNvPr id="191" name="TextBox 5"/>
          <p:cNvSpPr/>
          <p:nvPr/>
        </p:nvSpPr>
        <p:spPr>
          <a:xfrm>
            <a:off x="571680" y="3048120"/>
            <a:ext cx="560052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10" spc="-1" strike="noStrike">
                <a:solidFill>
                  <a:srgbClr val="0f172a"/>
                </a:solidFill>
                <a:latin typeface="Plus Jakarta Sans"/>
              </a:rPr>
              <a:t>Physical 3D Image Augmentation</a:t>
            </a:r>
            <a:endParaRPr b="0" lang="en-US" sz="1410" spc="-1" strike="noStrike">
              <a:latin typeface="Arial"/>
            </a:endParaRPr>
          </a:p>
        </p:txBody>
      </p:sp>
      <p:sp>
        <p:nvSpPr>
          <p:cNvPr id="192" name="TextBox 6"/>
          <p:cNvSpPr/>
          <p:nvPr/>
        </p:nvSpPr>
        <p:spPr>
          <a:xfrm>
            <a:off x="571680" y="3267000"/>
            <a:ext cx="533376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1" lang="en-US" sz="1200" spc="-1" strike="noStrike">
                <a:solidFill>
                  <a:srgbClr val="475569"/>
                </a:solidFill>
                <a:latin typeface="Inter"/>
              </a:rPr>
              <a:t>Image-Domain Transformations:</a:t>
            </a: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 Apply 3D spatial rotations, scaling, and Hounsfield Unit Gaussian noise directly to CT volumes.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3" name="TextBox 7"/>
          <p:cNvSpPr/>
          <p:nvPr/>
        </p:nvSpPr>
        <p:spPr>
          <a:xfrm>
            <a:off x="571680" y="3739320"/>
            <a:ext cx="533376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1" lang="en-US" sz="1200" spc="-1" strike="noStrike">
                <a:solidFill>
                  <a:srgbClr val="475569"/>
                </a:solidFill>
                <a:latin typeface="Inter"/>
              </a:rPr>
              <a:t>Contour Perturbations:</a:t>
            </a: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 Randomize 3D ROI tumor segmentation boundaries to extract features from physically plausible anatomical variations.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5" name="Rectangle 2"/>
          <p:cNvSpPr/>
          <p:nvPr/>
        </p:nvSpPr>
        <p:spPr>
          <a:xfrm>
            <a:off x="785880" y="2595600"/>
            <a:ext cx="10620000" cy="77112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6" name="Rectangle 3"/>
          <p:cNvSpPr/>
          <p:nvPr/>
        </p:nvSpPr>
        <p:spPr>
          <a:xfrm>
            <a:off x="785880" y="3367080"/>
            <a:ext cx="10620000" cy="77112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7" name="Rectangle 4"/>
          <p:cNvSpPr/>
          <p:nvPr/>
        </p:nvSpPr>
        <p:spPr>
          <a:xfrm>
            <a:off x="785880" y="3357720"/>
            <a:ext cx="10620000" cy="9000"/>
          </a:xfrm>
          <a:prstGeom prst="rect">
            <a:avLst/>
          </a:prstGeom>
          <a:solidFill>
            <a:srgbClr val="75757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8" name="Rectangle 5"/>
          <p:cNvSpPr/>
          <p:nvPr/>
        </p:nvSpPr>
        <p:spPr>
          <a:xfrm>
            <a:off x="785880" y="3357720"/>
            <a:ext cx="10620000" cy="9000"/>
          </a:xfrm>
          <a:prstGeom prst="rect">
            <a:avLst/>
          </a:prstGeom>
          <a:solidFill>
            <a:srgbClr val="75757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9" name="Rectangle 6"/>
          <p:cNvSpPr/>
          <p:nvPr/>
        </p:nvSpPr>
        <p:spPr>
          <a:xfrm>
            <a:off x="785880" y="4129200"/>
            <a:ext cx="10620000" cy="9000"/>
          </a:xfrm>
          <a:prstGeom prst="rect">
            <a:avLst/>
          </a:prstGeom>
          <a:solidFill>
            <a:srgbClr val="75757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0" name="Rectangle 7"/>
          <p:cNvSpPr/>
          <p:nvPr/>
        </p:nvSpPr>
        <p:spPr>
          <a:xfrm>
            <a:off x="785880" y="4129200"/>
            <a:ext cx="10620000" cy="9000"/>
          </a:xfrm>
          <a:prstGeom prst="rect">
            <a:avLst/>
          </a:prstGeom>
          <a:solidFill>
            <a:srgbClr val="75757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01" name="Picture 8" descr="image.png"/>
          <p:cNvPicPr/>
          <p:nvPr/>
        </p:nvPicPr>
        <p:blipFill>
          <a:blip r:embed="rId2"/>
          <a:stretch/>
        </p:blipFill>
        <p:spPr>
          <a:xfrm>
            <a:off x="785880" y="2738520"/>
            <a:ext cx="856800" cy="475920"/>
          </a:xfrm>
          <a:prstGeom prst="rect">
            <a:avLst/>
          </a:prstGeom>
          <a:ln w="0">
            <a:noFill/>
          </a:ln>
        </p:spPr>
      </p:pic>
      <p:sp>
        <p:nvSpPr>
          <p:cNvPr id="202" name="TextBox 9"/>
          <p:cNvSpPr/>
          <p:nvPr/>
        </p:nvSpPr>
        <p:spPr>
          <a:xfrm>
            <a:off x="1881360" y="2738880"/>
            <a:ext cx="95245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11"/>
              </a:lnSpc>
              <a:buNone/>
            </a:pPr>
            <a:r>
              <a:rPr b="0" lang="en-US" sz="980" spc="-1" strike="noStrike">
                <a:solidFill>
                  <a:srgbClr val="475569"/>
                </a:solidFill>
                <a:latin typeface="Inter"/>
              </a:rPr>
              <a:t>https://www.mdpi.com/diagnostics/diagnostics-15-01365/article_deploy/html/images/diagnostics-15-01365-g002a-550.jpg</a:t>
            </a:r>
            <a:endParaRPr b="0" lang="en-US" sz="980" spc="-1" strike="noStrike">
              <a:latin typeface="Arial"/>
            </a:endParaRPr>
          </a:p>
        </p:txBody>
      </p:sp>
      <p:sp>
        <p:nvSpPr>
          <p:cNvPr id="203" name="TextBox 10"/>
          <p:cNvSpPr/>
          <p:nvPr/>
        </p:nvSpPr>
        <p:spPr>
          <a:xfrm>
            <a:off x="1881360" y="2978280"/>
            <a:ext cx="95245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Source: </a:t>
            </a:r>
            <a:r>
              <a:rPr b="0" lang="en-US" sz="1200" spc="-1" strike="noStrike">
                <a:solidFill>
                  <a:srgbClr val="4f46e5"/>
                </a:solidFill>
                <a:latin typeface="Inter"/>
              </a:rPr>
              <a:t>www.mdpi.com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04" name="Picture 11" descr="image.png"/>
          <p:cNvPicPr/>
          <p:nvPr/>
        </p:nvPicPr>
        <p:blipFill>
          <a:blip r:embed="rId3"/>
          <a:stretch/>
        </p:blipFill>
        <p:spPr>
          <a:xfrm>
            <a:off x="785880" y="3510000"/>
            <a:ext cx="856800" cy="475920"/>
          </a:xfrm>
          <a:prstGeom prst="rect">
            <a:avLst/>
          </a:prstGeom>
          <a:ln w="0">
            <a:noFill/>
          </a:ln>
        </p:spPr>
      </p:pic>
      <p:sp>
        <p:nvSpPr>
          <p:cNvPr id="205" name="TextBox 12"/>
          <p:cNvSpPr/>
          <p:nvPr/>
        </p:nvSpPr>
        <p:spPr>
          <a:xfrm>
            <a:off x="1881360" y="3510360"/>
            <a:ext cx="9524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11"/>
              </a:lnSpc>
              <a:buNone/>
            </a:pPr>
            <a:r>
              <a:rPr b="0" lang="en-US" sz="980" spc="-1" strike="noStrike">
                <a:solidFill>
                  <a:srgbClr val="475569"/>
                </a:solidFill>
                <a:latin typeface="Inter"/>
              </a:rPr>
              <a:t>https://machinelearningmastery.com/wp-content/uploads/2019/10/Scatter-Plot-of-Imbalanced-Dataset-Transformed-by-SMOTE-and-Random-Undersampling.png</a:t>
            </a:r>
            <a:endParaRPr b="0" lang="en-US" sz="980" spc="-1" strike="noStrike">
              <a:latin typeface="Arial"/>
            </a:endParaRPr>
          </a:p>
        </p:txBody>
      </p:sp>
      <p:sp>
        <p:nvSpPr>
          <p:cNvPr id="206" name="TextBox 13"/>
          <p:cNvSpPr/>
          <p:nvPr/>
        </p:nvSpPr>
        <p:spPr>
          <a:xfrm>
            <a:off x="1881360" y="3749760"/>
            <a:ext cx="95245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Source: </a:t>
            </a:r>
            <a:r>
              <a:rPr b="0" lang="en-US" sz="1200" spc="-1" strike="noStrike">
                <a:solidFill>
                  <a:srgbClr val="4f46e5"/>
                </a:solidFill>
                <a:latin typeface="Inter"/>
              </a:rPr>
              <a:t>machinelearningmastery.com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07" name="Picture 14" descr="image.png"/>
          <p:cNvPicPr/>
          <p:nvPr/>
        </p:nvPicPr>
        <p:blipFill>
          <a:blip r:embed="rId4"/>
          <a:stretch/>
        </p:blipFill>
        <p:spPr>
          <a:xfrm>
            <a:off x="785880" y="4281480"/>
            <a:ext cx="856800" cy="475920"/>
          </a:xfrm>
          <a:prstGeom prst="rect">
            <a:avLst/>
          </a:prstGeom>
          <a:ln w="0">
            <a:noFill/>
          </a:ln>
        </p:spPr>
      </p:pic>
      <p:sp>
        <p:nvSpPr>
          <p:cNvPr id="208" name="TextBox 15"/>
          <p:cNvSpPr/>
          <p:nvPr/>
        </p:nvSpPr>
        <p:spPr>
          <a:xfrm>
            <a:off x="1881360" y="4281840"/>
            <a:ext cx="95245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511"/>
              </a:lnSpc>
              <a:buNone/>
            </a:pPr>
            <a:r>
              <a:rPr b="0" lang="en-US" sz="980" spc="-1" strike="noStrike">
                <a:solidFill>
                  <a:srgbClr val="475569"/>
                </a:solidFill>
                <a:latin typeface="Inter"/>
              </a:rPr>
              <a:t>https://cdn1.imaios.com/i/images/7/7/0/4/464077-1-eng-GB/Rotation.jpg?caption=1&amp;q=75&amp;w=535&amp;s=1610ace054784774c7c3683663cda79e</a:t>
            </a:r>
            <a:endParaRPr b="0" lang="en-US" sz="980" spc="-1" strike="noStrike">
              <a:latin typeface="Arial"/>
            </a:endParaRPr>
          </a:p>
        </p:txBody>
      </p:sp>
      <p:sp>
        <p:nvSpPr>
          <p:cNvPr id="209" name="TextBox 16"/>
          <p:cNvSpPr/>
          <p:nvPr/>
        </p:nvSpPr>
        <p:spPr>
          <a:xfrm>
            <a:off x="1881360" y="4521240"/>
            <a:ext cx="95245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60"/>
              </a:lnSpc>
              <a:buNone/>
            </a:pPr>
            <a:r>
              <a:rPr b="0" lang="en-US" sz="1200" spc="-1" strike="noStrike">
                <a:solidFill>
                  <a:srgbClr val="475569"/>
                </a:solidFill>
                <a:latin typeface="Inter"/>
              </a:rPr>
              <a:t>Source: </a:t>
            </a:r>
            <a:r>
              <a:rPr b="0" lang="en-US" sz="1200" spc="-1" strike="noStrike">
                <a:solidFill>
                  <a:srgbClr val="4f46e5"/>
                </a:solidFill>
                <a:latin typeface="Inter"/>
              </a:rPr>
              <a:t>www.imaios.com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0" name="TextBox 17"/>
          <p:cNvSpPr/>
          <p:nvPr/>
        </p:nvSpPr>
        <p:spPr>
          <a:xfrm>
            <a:off x="714240" y="474120"/>
            <a:ext cx="11451240" cy="4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ts val="3186"/>
              </a:lnSpc>
              <a:buNone/>
            </a:pPr>
            <a:r>
              <a:rPr b="1" lang="en-US" sz="2550" spc="-1" strike="noStrike">
                <a:solidFill>
                  <a:srgbClr val="0f172a"/>
                </a:solidFill>
                <a:latin typeface="Plus Jakarta Sans"/>
              </a:rPr>
              <a:t>Image Sources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211" name="Rectangle 18"/>
          <p:cNvSpPr/>
          <p:nvPr/>
        </p:nvSpPr>
        <p:spPr>
          <a:xfrm>
            <a:off x="571680" y="476280"/>
            <a:ext cx="47160" cy="3996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2026-09-05T11:00:07Z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